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schemas.openxmlformats.org/officeDocument/2006/relationships/slide" Target="slides/slide20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6F8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502920" y="6528816"/>
            <a:ext cx="53035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6. Sınıf • Bilişim Teknolojileri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10561320" y="6528816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BTY.6.1.1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447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a_wide_colorful_modern_3d_cgi_illustration_scene.png" id="22" name="Google Shape;22;p4"/>
          <p:cNvPicPr preferRelativeResize="0"/>
          <p:nvPr/>
        </p:nvPicPr>
        <p:blipFill rotWithShape="1">
          <a:blip r:embed="rId3">
            <a:alphaModFix/>
          </a:blip>
          <a:srcRect b="25" l="0" r="0" t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81934">
              <a:alpha val="92157"/>
            </a:srgbClr>
          </a:solidFill>
          <a:ln cap="flat" cmpd="sng" w="12700">
            <a:solidFill>
              <a:srgbClr val="0819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58368" y="658368"/>
            <a:ext cx="3035700" cy="384000"/>
          </a:xfrm>
          <a:prstGeom prst="roundRect">
            <a:avLst>
              <a:gd fmla="val 42857" name="adj"/>
            </a:avLst>
          </a:prstGeom>
          <a:solidFill>
            <a:srgbClr val="FFFFFF">
              <a:alpha val="12157"/>
            </a:srgbClr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841248" y="749808"/>
            <a:ext cx="2651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E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D7EEFF"/>
                </a:solidFill>
                <a:latin typeface="Arial"/>
                <a:ea typeface="Arial"/>
                <a:cs typeface="Arial"/>
                <a:sym typeface="Arial"/>
              </a:rPr>
              <a:t>6. SINIF • BİLİŞİM TEKNOLOJİLERİ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94944" y="1444752"/>
            <a:ext cx="4892100" cy="14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Yenilikçi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Bilişim Teknolojileri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13232" y="306324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E8F7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DE8F7"/>
                </a:solidFill>
                <a:latin typeface="Arial"/>
                <a:ea typeface="Arial"/>
                <a:cs typeface="Arial"/>
                <a:sym typeface="Arial"/>
              </a:rPr>
              <a:t>Bilişim teknolojilerini tanıyalım, günlük yaşamla ilişkilendirelim ve kullanım alanlarına göre sınıflandıralım.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3232" y="4261104"/>
            <a:ext cx="1206900" cy="384000"/>
          </a:xfrm>
          <a:prstGeom prst="roundRect">
            <a:avLst>
              <a:gd fmla="val 47619" name="adj"/>
            </a:avLst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786384" y="4325112"/>
            <a:ext cx="1060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BTY.6.1.1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103120" y="4325112"/>
            <a:ext cx="175564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31520" y="592531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FD2E9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FD2E9"/>
                </a:solidFill>
                <a:latin typeface="Arial"/>
                <a:ea typeface="Arial"/>
                <a:cs typeface="Arial"/>
                <a:sym typeface="Arial"/>
              </a:rPr>
              <a:t>Ünite / Tema: Bilişim Teknolojilerinin Hayatımızdaki Yeri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ÖĞRENME HEDEFLERI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Bugün neler öğreneceğiz?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Dersin sonunda “teknolojiyi tanıma → günlük yaşamla ilişkilendirme → sınıflandırma” zincirini kuracağız.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21792" y="1965960"/>
            <a:ext cx="3429000" cy="3255264"/>
          </a:xfrm>
          <a:prstGeom prst="roundRect">
            <a:avLst>
              <a:gd fmla="val 4213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877824" y="2267712"/>
            <a:ext cx="713232" cy="713232"/>
          </a:xfrm>
          <a:prstGeom prst="ellipse">
            <a:avLst/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395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3346704" y="22219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77824" y="318211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Kavramları tanırım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877824" y="3767328"/>
            <a:ext cx="290779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Yenilikçi bilişim teknolojilerine ait temel kavramları örnekleriyle açıklarım.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416552" y="1965960"/>
            <a:ext cx="3429000" cy="3255264"/>
          </a:xfrm>
          <a:prstGeom prst="roundRect">
            <a:avLst>
              <a:gd fmla="val 4213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672584" y="2267712"/>
            <a:ext cx="713232" cy="713232"/>
          </a:xfrm>
          <a:prstGeom prst="ellipse">
            <a:avLst/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2395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7141464" y="22219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672584" y="318211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Hayatla ilişkilendiririm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672584" y="3767328"/>
            <a:ext cx="290779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Bir teknolojinin hangi işi kolaylaştırdığını ve hangi probleme çözüm sunduğunu fark ederim.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8211312" y="1965960"/>
            <a:ext cx="3429000" cy="3255264"/>
          </a:xfrm>
          <a:prstGeom prst="roundRect">
            <a:avLst>
              <a:gd fmla="val 4213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8467344" y="2267712"/>
            <a:ext cx="713232" cy="713232"/>
          </a:xfrm>
          <a:prstGeom prst="ellipse">
            <a:avLst/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23957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10936224" y="22219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467344" y="3182112"/>
            <a:ext cx="290779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Gruplandırırım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8467344" y="3767328"/>
            <a:ext cx="2907792" cy="1078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Teknolojileri eğitim, sağlık, ulaşım, üretim, eğlence ve ev gibi kullanım alanlarına göre sınıflandırırım.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21792" y="5532120"/>
            <a:ext cx="10972800" cy="585216"/>
          </a:xfrm>
          <a:prstGeom prst="roundRect">
            <a:avLst>
              <a:gd fmla="val 25000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68680" y="5687568"/>
            <a:ext cx="10469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Ders boyunca şu soruyu düşün: “Bu teknoloji olmasaydı hangi iş daha zor olurdu?”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DERSTEN ÖNCE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Isınma: Teknoloji dedektifleri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Aşağıdaki durumlarda hangi yenilikçi teknoloji olabilir? Tahmin et, sonra nedenini söyle.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658368" y="1901952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59536" y="2084832"/>
            <a:ext cx="438912" cy="438912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859536" y="21762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408176" y="2066544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Telefon, çektiğin fotoğraftaki kediyi otomatik olarak tanıyor.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6144768" y="1901952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345936" y="2084832"/>
            <a:ext cx="438912" cy="438912"/>
          </a:xfrm>
          <a:prstGeom prst="ellipse">
            <a:avLst/>
          </a:prstGeom>
          <a:solidFill>
            <a:srgbClr val="14B8D4"/>
          </a:solidFill>
          <a:ln cap="flat" cmpd="sng" w="12700">
            <a:solidFill>
              <a:srgbClr val="14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6345936" y="21762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6894576" y="2066544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Saatin, gün boyunca attığın adımları ve nabzını ölçüyor.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58368" y="3081528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859536" y="3264408"/>
            <a:ext cx="438912" cy="43891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859536" y="335584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408176" y="3246120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gözlük taktığında kendini uzay istasyonundaymış gibi hissediyorsun.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6144768" y="3081528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345936" y="3264408"/>
            <a:ext cx="438912" cy="43891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345936" y="335584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894576" y="3246120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Evdeki lamba, telefonundan verdiğin komutla açılıyor.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58368" y="4261104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859536" y="4443984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859536" y="453542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408176" y="4425696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makine, bilgisayarda çizilen anahtarlığı katman katman üretiyor.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144768" y="4261104"/>
            <a:ext cx="5394960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6345936" y="4443984"/>
            <a:ext cx="438912" cy="438912"/>
          </a:xfrm>
          <a:prstGeom prst="ellipse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345936" y="453542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894576" y="4425696"/>
            <a:ext cx="4434840" cy="6309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robot, fabrikanın aynı işini yorulmadan tekrar ediyor.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76656" y="5550408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4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2447"/>
                </a:solidFill>
                <a:latin typeface="Arial"/>
                <a:ea typeface="Arial"/>
                <a:cs typeface="Arial"/>
                <a:sym typeface="Arial"/>
              </a:rPr>
              <a:t>30 saniye düşün → Yanındaki arkadaşınla paylaş → Sınıfça kontrol et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“Yenilikçi bilişim teknolojisi” ne demek?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658368" y="1325880"/>
            <a:ext cx="5212080" cy="4297680"/>
          </a:xfrm>
          <a:prstGeom prst="roundRect">
            <a:avLst>
              <a:gd fmla="val 3191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960120" y="1664208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Kısaca: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960120" y="2057400"/>
            <a:ext cx="4553712" cy="135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Bilgiyi işleyen, iletişim kuran veya bir işi daha hızlı, güvenli, kolay ya da akıllı hâle getiren yeni nesil teknolojilerdir.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960120" y="370332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teknoloji “yenilikçi” olduğunda genellikle: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987552" y="4133088"/>
            <a:ext cx="45262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veri toplar veya işler,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insanla / cihazla etkileşir,</a:t>
            </a:r>
            <a:br>
              <a:rPr b="0" i="0" lang="en-US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probleme yeni ya da daha etkili çözüm sunar.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144768" y="1325880"/>
            <a:ext cx="5394960" cy="4297680"/>
          </a:xfrm>
          <a:prstGeom prst="roundRect">
            <a:avLst>
              <a:gd fmla="val 3191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510528" y="173736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C1F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9C1F7"/>
                </a:solidFill>
                <a:latin typeface="Arial"/>
                <a:ea typeface="Arial"/>
                <a:cs typeface="Arial"/>
                <a:sym typeface="Arial"/>
              </a:rPr>
              <a:t>3 ANAHTAR SORU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510528" y="2304288"/>
            <a:ext cx="438912" cy="438912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510528" y="2404872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150608" y="2304288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 yapıyor?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150608" y="2624328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E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3D2EA"/>
                </a:solidFill>
                <a:latin typeface="Arial"/>
                <a:ea typeface="Arial"/>
                <a:cs typeface="Arial"/>
                <a:sym typeface="Arial"/>
              </a:rPr>
              <a:t>Teknolojinin görevi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510528" y="3246120"/>
            <a:ext cx="438912" cy="438912"/>
          </a:xfrm>
          <a:prstGeom prst="ellipse">
            <a:avLst/>
          </a:prstGeom>
          <a:solidFill>
            <a:srgbClr val="14B8D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510528" y="334670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7150608" y="3246120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Neyi kolaylaştırıyor?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150608" y="3566160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E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3D2EA"/>
                </a:solidFill>
                <a:latin typeface="Arial"/>
                <a:ea typeface="Arial"/>
                <a:cs typeface="Arial"/>
                <a:sym typeface="Arial"/>
              </a:rPr>
              <a:t>Günlük yaşamdaki yararı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510528" y="4187952"/>
            <a:ext cx="438912" cy="43891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510528" y="428853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150608" y="418795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Nerede kullanılıyor?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150608" y="4507992"/>
            <a:ext cx="3611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3D2EA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3D2EA"/>
                </a:solidFill>
                <a:latin typeface="Arial"/>
                <a:ea typeface="Arial"/>
                <a:cs typeface="Arial"/>
                <a:sym typeface="Arial"/>
              </a:rPr>
              <a:t>Kullanım alanı / sektör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510528" y="5074920"/>
            <a:ext cx="4434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4F5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E4F5FF"/>
                </a:solidFill>
                <a:latin typeface="Arial"/>
                <a:ea typeface="Arial"/>
                <a:cs typeface="Arial"/>
                <a:sym typeface="Arial"/>
              </a:rPr>
              <a:t>Bu üç soruya cevap verebiliyorsan teknoloji dedektifliğini yapabiliyorsun!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Kullanım alanlarına göre sınıflandıralım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76072" y="111556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Aynı teknoloji birden fazla alanda kullanılabilir. Sınıflandırırken “asıl kullanım amacı”na bakarız.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76656" y="1828800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896112" y="2048256"/>
            <a:ext cx="566928" cy="566928"/>
          </a:xfrm>
          <a:prstGeom prst="ellipse">
            <a:avLst/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176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8"/>
          <p:cNvSpPr/>
          <p:nvPr/>
        </p:nvSpPr>
        <p:spPr>
          <a:xfrm>
            <a:off x="1609344" y="2029968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96112" y="267004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Akıllı içerik, VR laboratuvarı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4498848" y="1828800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718304" y="2048256"/>
            <a:ext cx="566928" cy="566928"/>
          </a:xfrm>
          <a:prstGeom prst="ellipse">
            <a:avLst/>
          </a:prstGeom>
          <a:solidFill>
            <a:srgbClr val="FDECEE"/>
          </a:solidFill>
          <a:ln cap="flat" cmpd="sng" w="12700">
            <a:solidFill>
              <a:srgbClr val="FD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0" name="Google Shape;1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2176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8"/>
          <p:cNvSpPr/>
          <p:nvPr/>
        </p:nvSpPr>
        <p:spPr>
          <a:xfrm>
            <a:off x="5431536" y="2029968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Sağlık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718304" y="267004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Akıllı saat, robotik cerrahi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8321040" y="1828800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8540496" y="2048256"/>
            <a:ext cx="566928" cy="566928"/>
          </a:xfrm>
          <a:prstGeom prst="ellipse">
            <a:avLst/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8512" y="217627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9253728" y="2029968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Ulaşım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8540496" y="2670048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Sürücü destek sistemleri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676656" y="3675888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96112" y="3895344"/>
            <a:ext cx="566928" cy="566928"/>
          </a:xfrm>
          <a:prstGeom prst="ellipse">
            <a:avLst/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4023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/>
          <p:nvPr/>
        </p:nvSpPr>
        <p:spPr>
          <a:xfrm>
            <a:off x="1609344" y="3877056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Ev / Yaşam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896112" y="4517136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Akıllı lamba, sensör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4498848" y="3675888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4718304" y="3895344"/>
            <a:ext cx="566928" cy="566928"/>
          </a:xfrm>
          <a:prstGeom prst="ellipse">
            <a:avLst/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0" y="4023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8"/>
          <p:cNvSpPr/>
          <p:nvPr/>
        </p:nvSpPr>
        <p:spPr>
          <a:xfrm>
            <a:off x="5431536" y="3877056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Üretim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718304" y="4517136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Robot, 3</a:t>
            </a:r>
            <a:r>
              <a:rPr lang="en-US" sz="1250">
                <a:solidFill>
                  <a:srgbClr val="64748B"/>
                </a:solidFill>
              </a:rPr>
              <a:t>D</a:t>
            </a: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 yazıcı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8321040" y="3675888"/>
            <a:ext cx="3456432" cy="1499616"/>
          </a:xfrm>
          <a:prstGeom prst="roundRect">
            <a:avLst>
              <a:gd fmla="val 914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540496" y="3895344"/>
            <a:ext cx="566928" cy="566928"/>
          </a:xfrm>
          <a:prstGeom prst="ellipse">
            <a:avLst/>
          </a:prstGeom>
          <a:solidFill>
            <a:srgbClr val="FCEAF4"/>
          </a:solidFill>
          <a:ln cap="flat" cmpd="sng" w="12700">
            <a:solidFill>
              <a:srgbClr val="FC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8512" y="402336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9253728" y="3877056"/>
            <a:ext cx="2148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Eğlence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8540496" y="4517136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AR/VR oyunlar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676656" y="5742432"/>
            <a:ext cx="10972800" cy="475488"/>
          </a:xfrm>
          <a:prstGeom prst="roundRect">
            <a:avLst>
              <a:gd fmla="val 26923" name="adj"/>
            </a:avLst>
          </a:prstGeom>
          <a:solidFill>
            <a:srgbClr val="E8EEFA"/>
          </a:solidFill>
          <a:ln cap="flat" cmpd="sng" w="12700">
            <a:solidFill>
              <a:srgbClr val="E8EE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914400" y="5870448"/>
            <a:ext cx="1047902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4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02447"/>
                </a:solidFill>
                <a:latin typeface="Arial"/>
                <a:ea typeface="Arial"/>
                <a:cs typeface="Arial"/>
                <a:sym typeface="Arial"/>
              </a:rPr>
              <a:t>Örnek: Yapay zekâ → eğitimde soru önerir, sağlıkta görüntü analizine yardım eder, ulaşımda sürücü destek sistemlerini güçlendirebilir.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Yapay Zekâ (YZ)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Veriyi kullanır, örüntüleri fark eder, öneri veya tahmin üretir.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7" name="Google Shape;1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9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Fotoğraflardaki nesneleri tanıma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Sesli komutları anlama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Öneri sistemleri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Metin / görsel üretimine yardımcı olma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Kişiye uygun alıştırma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Sağlık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Görüntü analizine destek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Ulaşım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Sürücü destek sistemleri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Sence yapay zekâ “düşünür” mü, yoksa verilerden örüntü mü öğrenir?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14B8D4"/>
          </a:solidFill>
          <a:ln cap="flat" cmpd="sng" w="12700">
            <a:solidFill>
              <a:srgbClr val="14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Nesnelerin İnterneti (IoT)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Cihazların sensör ve internet yardımıyla veri paylaşmasıdır.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0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Akıllı lambalar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Hava / sıcaklık sensörleri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Akıllı tarım sistemleri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Uzaktan kontrol edilen cihazlar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Ev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Enerji tasarrufu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Tarım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Toprak nemini izleme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Şehir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Trafik / çevre sensörleri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Evindeki hangi eşya “akıllı” olsaydı işini kolaylaştırırdı?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Robotik Sistemler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Programlanan görevleri fiziksel dünyada yerine getiren sistemlerdir.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5" name="Google Shape;23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1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Fabrika robotları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Eğitim robotları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Depo taşıma robotları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Arama-kurtarma robotları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Üretim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Tekrarlı işleri hızlı yapma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Kodlama ve problem çözme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Afet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Riskli alana insan yerine girme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Bir robotun iyi çalışması için yalnızca “makine” yeterli midir?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1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Sanal Gerçeklik (VR) ve Artırılmış Gerçeklik (AR)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VR dijital bir ortamın içine taşır; AR gerçek görüntünün üzerine dijital bilgi ekler.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2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VR: sanal müze gezisi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VR: uçuş / ameliyat simülasyonu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AR: kamerada yön / bilgi gösterme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AR: 3B modeli sıranın üstünde görme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2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2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Deneyimi canlandırma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Tasarım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Modeli önceden görme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Eğlence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Etkileşimli oyun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Telefon kamerasında odana sanal bir koltuk yerleştirmen VR mi, AR mi?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2600">
                <a:solidFill>
                  <a:srgbClr val="172033"/>
                </a:solidFill>
              </a:rPr>
              <a:t>D</a:t>
            </a: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Yazıcılar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Bilgisayardaki 3 boyutlu modeli, malzemeyi katman katman ekleyerek fiziksel nesneye dönüştürür.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Prototip üretme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Ders materyali hazırlama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Yedek parça üretme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Kişiye özel tasarım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Eğitim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Model / maket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Üretim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Hızlı prototip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Sağlık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Kişiye uygun yardımcı parçalar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520">
                <a:solidFill>
                  <a:srgbClr val="FFFFFF"/>
                </a:solidFill>
              </a:rPr>
              <a:t>D</a:t>
            </a: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yazıcıdan çıkacak bir nesne önce nerede tasarlanır?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3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Giyilebilir Teknolojiler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Vücutta taşınan ve veri toplayabilen / işleyebilen dijital cihazlardır.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FCEAF4"/>
          </a:solidFill>
          <a:ln cap="flat" cmpd="sng" w="12700">
            <a:solidFill>
              <a:srgbClr val="FC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2" name="Google Shape;32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4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Akıllı saat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Spor bilekliği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Akıllı gözlük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Konum / aktivite sensörleri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4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CEAF4"/>
          </a:solidFill>
          <a:ln cap="flat" cmpd="sng" w="12700">
            <a:solidFill>
              <a:srgbClr val="FC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Sağlık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4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Nabız ve aktivite takibi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CEAF4"/>
          </a:solidFill>
          <a:ln cap="flat" cmpd="sng" w="12700">
            <a:solidFill>
              <a:srgbClr val="FC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Spor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4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Antrenman verisi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FCEAF4"/>
          </a:solidFill>
          <a:ln cap="flat" cmpd="sng" w="12700">
            <a:solidFill>
              <a:srgbClr val="FCEA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C4899"/>
                </a:solidFill>
                <a:latin typeface="Arial"/>
                <a:ea typeface="Arial"/>
                <a:cs typeface="Arial"/>
                <a:sym typeface="Arial"/>
              </a:rPr>
              <a:t>İletişim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Bildirim / hızlı erişim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4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Bir akıllı saatin topladığı veriler neden kişisel veri sayılabilir?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4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"/>
          <p:cNvSpPr/>
          <p:nvPr/>
        </p:nvSpPr>
        <p:spPr>
          <a:xfrm>
            <a:off x="566928" y="530352"/>
            <a:ext cx="457200" cy="457200"/>
          </a:xfrm>
          <a:prstGeom prst="ellipse">
            <a:avLst/>
          </a:prstGeom>
          <a:solidFill>
            <a:srgbClr val="0EA5A4"/>
          </a:solidFill>
          <a:ln cap="flat" cmpd="sng" w="12700">
            <a:solidFill>
              <a:srgbClr val="0EA5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566928" y="612648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1152144" y="53035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Drone ve Otonom Sistemler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1161288" y="1024128"/>
            <a:ext cx="10287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Sensörler, yazılım ve kontrol sistemleriyle çevreyi algılayıp hareket edebilir.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658368" y="1719072"/>
            <a:ext cx="5084064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932688" y="1993392"/>
            <a:ext cx="749808" cy="749808"/>
          </a:xfrm>
          <a:prstGeom prst="ellipse">
            <a:avLst/>
          </a:prstGeom>
          <a:solidFill>
            <a:srgbClr val="E8F8F7"/>
          </a:solidFill>
          <a:ln cap="flat" cmpd="sng" w="12700">
            <a:solidFill>
              <a:srgbClr val="E8F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704" y="2121408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5"/>
          <p:cNvSpPr/>
          <p:nvPr/>
        </p:nvSpPr>
        <p:spPr>
          <a:xfrm>
            <a:off x="1828800" y="2048256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Günlük hayattan örnekler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941832" y="2724912"/>
            <a:ext cx="43891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Havadan görüntüleme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Tarım alanı kontrolü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Arama-kurtarma desteği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● </a:t>
            </a: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Otonom taşıma araçları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6016752" y="1719072"/>
            <a:ext cx="5532120" cy="3611880"/>
          </a:xfrm>
          <a:prstGeom prst="roundRect">
            <a:avLst>
              <a:gd fmla="val 3797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6327648" y="1993392"/>
            <a:ext cx="4389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Nerelerde kullanılır?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6327648" y="2624328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8F7"/>
          </a:solidFill>
          <a:ln cap="flat" cmpd="sng" w="12700">
            <a:solidFill>
              <a:srgbClr val="E8F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6428232" y="2743200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Tarım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7927848" y="2670048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Alan gözlemi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6327648" y="3410712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8F7"/>
          </a:solidFill>
          <a:ln cap="flat" cmpd="sng" w="12700">
            <a:solidFill>
              <a:srgbClr val="E8F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6428232" y="3529584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Afet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7927848" y="3456432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Ulaşılması zor bölge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6327648" y="4197096"/>
            <a:ext cx="1389888" cy="438912"/>
          </a:xfrm>
          <a:prstGeom prst="roundRect">
            <a:avLst>
              <a:gd fmla="val 27083" name="adj"/>
            </a:avLst>
          </a:prstGeom>
          <a:solidFill>
            <a:srgbClr val="E8F8F7"/>
          </a:solidFill>
          <a:ln cap="flat" cmpd="sng" w="12700">
            <a:solidFill>
              <a:srgbClr val="E8F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6428232" y="4315968"/>
            <a:ext cx="11887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A5A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A5A4"/>
                </a:solidFill>
                <a:latin typeface="Arial"/>
                <a:ea typeface="Arial"/>
                <a:cs typeface="Arial"/>
                <a:sym typeface="Arial"/>
              </a:rPr>
              <a:t>Ulaşım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7927848" y="4242816"/>
            <a:ext cx="312724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Otonom hareket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58368" y="5541264"/>
            <a:ext cx="10899648" cy="658368"/>
          </a:xfrm>
          <a:prstGeom prst="roundRect">
            <a:avLst>
              <a:gd fmla="val 22222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932688" y="5742432"/>
            <a:ext cx="1417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DFF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A5DFF0"/>
                </a:solidFill>
                <a:latin typeface="Arial"/>
                <a:ea typeface="Arial"/>
                <a:cs typeface="Arial"/>
                <a:sym typeface="Arial"/>
              </a:rPr>
              <a:t>DÜŞÜN &amp; PAYLAŞ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2441448" y="5669280"/>
            <a:ext cx="8641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20"/>
              <a:buFont typeface="Arial"/>
              <a:buNone/>
            </a:pPr>
            <a:r>
              <a:rPr b="1" i="0" lang="en-US" sz="15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Bir sistemin “otonom” olması ne anlama gelir?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5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BAĞLANTI KUR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Yenilikçi teknolojiler hayatımızı nasıl kolaylaştırır?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Teknolojinin değerini yalnızca “yeni” olması değil, çözdüğü problem belirler.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658368" y="1847088"/>
            <a:ext cx="5175504" cy="1170432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>
            <a:off x="877824" y="2075688"/>
            <a:ext cx="566928" cy="566928"/>
          </a:xfrm>
          <a:prstGeom prst="ellipse">
            <a:avLst/>
          </a:prstGeom>
          <a:solidFill>
            <a:srgbClr val="FFF5E4"/>
          </a:solidFill>
          <a:ln cap="flat" cmpd="sng" w="12700">
            <a:solidFill>
              <a:srgbClr val="FFF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9" name="Google Shape;3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220370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6"/>
          <p:cNvSpPr/>
          <p:nvPr/>
        </p:nvSpPr>
        <p:spPr>
          <a:xfrm>
            <a:off x="1591056" y="20299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Hız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6"/>
          <p:cNvSpPr/>
          <p:nvPr/>
        </p:nvSpPr>
        <p:spPr>
          <a:xfrm>
            <a:off x="1591056" y="237744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Tekrarlı işleri daha kısa sürede yapabilir.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6181344" y="1847088"/>
            <a:ext cx="5175504" cy="1170432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6"/>
          <p:cNvSpPr/>
          <p:nvPr/>
        </p:nvSpPr>
        <p:spPr>
          <a:xfrm>
            <a:off x="6400800" y="2075688"/>
            <a:ext cx="566928" cy="566928"/>
          </a:xfrm>
          <a:prstGeom prst="ellipse">
            <a:avLst/>
          </a:prstGeom>
          <a:solidFill>
            <a:srgbClr val="EAF2FF"/>
          </a:solidFill>
          <a:ln cap="flat" cmpd="sng" w="12700">
            <a:solidFill>
              <a:srgbClr val="EAF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8816" y="220370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6"/>
          <p:cNvSpPr/>
          <p:nvPr/>
        </p:nvSpPr>
        <p:spPr>
          <a:xfrm>
            <a:off x="7114032" y="202996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Doğruluk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7114032" y="237744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Ölçüm ve veri takibinde hatayı azaltmaya yardımcı olabilir.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6"/>
          <p:cNvSpPr/>
          <p:nvPr/>
        </p:nvSpPr>
        <p:spPr>
          <a:xfrm>
            <a:off x="658368" y="3264408"/>
            <a:ext cx="5175504" cy="1170432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6"/>
          <p:cNvSpPr/>
          <p:nvPr/>
        </p:nvSpPr>
        <p:spPr>
          <a:xfrm>
            <a:off x="877824" y="3493008"/>
            <a:ext cx="566928" cy="566928"/>
          </a:xfrm>
          <a:prstGeom prst="ellipse">
            <a:avLst/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36210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6"/>
          <p:cNvSpPr/>
          <p:nvPr/>
        </p:nvSpPr>
        <p:spPr>
          <a:xfrm>
            <a:off x="1591056" y="34472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Erişilebilirlik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1591056" y="37947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Bazı görevleri farklı ihtiyaçlara göre uyarlayabilir.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/>
          <p:nvPr/>
        </p:nvSpPr>
        <p:spPr>
          <a:xfrm>
            <a:off x="6181344" y="3264408"/>
            <a:ext cx="5175504" cy="1170432"/>
          </a:xfrm>
          <a:prstGeom prst="roundRect">
            <a:avLst>
              <a:gd fmla="val 1171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6400800" y="3493008"/>
            <a:ext cx="566928" cy="566928"/>
          </a:xfrm>
          <a:prstGeom prst="ellipse">
            <a:avLst/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4" name="Google Shape;3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8816" y="362102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6"/>
          <p:cNvSpPr/>
          <p:nvPr/>
        </p:nvSpPr>
        <p:spPr>
          <a:xfrm>
            <a:off x="7114032" y="344728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Güvenlik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6"/>
          <p:cNvSpPr/>
          <p:nvPr/>
        </p:nvSpPr>
        <p:spPr>
          <a:xfrm>
            <a:off x="7114032" y="3794760"/>
            <a:ext cx="38221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Riskli ortamlarda sensör ve robotlardan yararlanılabilir.</a:t>
            </a:r>
            <a:endParaRPr b="0" i="0" sz="13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6"/>
          <p:cNvSpPr/>
          <p:nvPr/>
        </p:nvSpPr>
        <p:spPr>
          <a:xfrm>
            <a:off x="658368" y="4919472"/>
            <a:ext cx="10954512" cy="950976"/>
          </a:xfrm>
          <a:prstGeom prst="roundRect">
            <a:avLst>
              <a:gd fmla="val 14423" name="adj"/>
            </a:avLst>
          </a:prstGeom>
          <a:solidFill>
            <a:srgbClr val="FFF4F4"/>
          </a:solidFill>
          <a:ln cap="flat" cmpd="sng" w="12700">
            <a:solidFill>
              <a:srgbClr val="F7C8C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896112" y="5120640"/>
            <a:ext cx="512064" cy="512064"/>
          </a:xfrm>
          <a:prstGeom prst="ellipse">
            <a:avLst/>
          </a:prstGeom>
          <a:solidFill>
            <a:srgbClr val="FDECEE"/>
          </a:solidFill>
          <a:ln cap="flat" cmpd="sng" w="12700">
            <a:solidFill>
              <a:srgbClr val="FDEC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524865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6"/>
          <p:cNvSpPr/>
          <p:nvPr/>
        </p:nvSpPr>
        <p:spPr>
          <a:xfrm>
            <a:off x="1627632" y="5120640"/>
            <a:ext cx="9528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2020"/>
              </a:buClr>
              <a:buSzPts val="1530"/>
              <a:buFont typeface="Arial"/>
              <a:buNone/>
            </a:pPr>
            <a:r>
              <a:rPr b="1" i="0" lang="en-US" sz="1530" u="none" cap="none" strike="noStrike">
                <a:solidFill>
                  <a:srgbClr val="7A2020"/>
                </a:solidFill>
                <a:latin typeface="Arial"/>
                <a:ea typeface="Arial"/>
                <a:cs typeface="Arial"/>
                <a:sym typeface="Arial"/>
              </a:rPr>
              <a:t>Dikkat: Teknoloji kullanırken gizlilik, güvenlik, ekran süresi, doğruluk ve insan kontrolü de düşünülmelidir.</a:t>
            </a:r>
            <a:endParaRPr b="0" i="0" sz="15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6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UYGULAMA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Sınıflandırma oyunu: Hangi alana koyarsın?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Önce tek başına düşün. Sonra seçimini gerekçelendir. Bazı örnekler birden fazla alana uyabilir!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658368" y="187452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877824" y="205740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Akıllı sulama sensörü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4352544" y="205740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7"/>
          <p:cNvSpPr/>
          <p:nvPr/>
        </p:nvSpPr>
        <p:spPr>
          <a:xfrm>
            <a:off x="4407408" y="218541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877824" y="248716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6172200" y="187452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6391656" y="205740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VR ile tarih müzesi gezisi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9866376" y="205740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7"/>
          <p:cNvSpPr/>
          <p:nvPr/>
        </p:nvSpPr>
        <p:spPr>
          <a:xfrm>
            <a:off x="9921240" y="218541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6391656" y="248716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7"/>
          <p:cNvSpPr/>
          <p:nvPr/>
        </p:nvSpPr>
        <p:spPr>
          <a:xfrm>
            <a:off x="658368" y="306324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7"/>
          <p:cNvSpPr/>
          <p:nvPr/>
        </p:nvSpPr>
        <p:spPr>
          <a:xfrm>
            <a:off x="877824" y="32461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Fabrikada kaynak yapan robot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7"/>
          <p:cNvSpPr/>
          <p:nvPr/>
        </p:nvSpPr>
        <p:spPr>
          <a:xfrm>
            <a:off x="4352544" y="324612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7"/>
          <p:cNvSpPr/>
          <p:nvPr/>
        </p:nvSpPr>
        <p:spPr>
          <a:xfrm>
            <a:off x="4407408" y="337413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877824" y="367588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</a:t>
            </a:r>
            <a:r>
              <a:rPr i="1" lang="en-US" sz="1050">
                <a:solidFill>
                  <a:srgbClr val="64748B"/>
                </a:solidFill>
              </a:rPr>
              <a:t>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7"/>
          <p:cNvSpPr/>
          <p:nvPr/>
        </p:nvSpPr>
        <p:spPr>
          <a:xfrm>
            <a:off x="6172200" y="306324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/>
          <p:nvPr/>
        </p:nvSpPr>
        <p:spPr>
          <a:xfrm>
            <a:off x="6391656" y="324612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Kalp atışını ölçen akıllı saat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7"/>
          <p:cNvSpPr/>
          <p:nvPr/>
        </p:nvSpPr>
        <p:spPr>
          <a:xfrm>
            <a:off x="9866376" y="324612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9921240" y="337413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7"/>
          <p:cNvSpPr/>
          <p:nvPr/>
        </p:nvSpPr>
        <p:spPr>
          <a:xfrm>
            <a:off x="6378837" y="3675888"/>
            <a:ext cx="4480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7"/>
          <p:cNvSpPr/>
          <p:nvPr/>
        </p:nvSpPr>
        <p:spPr>
          <a:xfrm>
            <a:off x="658368" y="425196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877824" y="443484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Trafiği izleyen şehir sensörü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7"/>
          <p:cNvSpPr/>
          <p:nvPr/>
        </p:nvSpPr>
        <p:spPr>
          <a:xfrm>
            <a:off x="4352544" y="443484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4407408" y="456285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7"/>
          <p:cNvSpPr/>
          <p:nvPr/>
        </p:nvSpPr>
        <p:spPr>
          <a:xfrm>
            <a:off x="877824" y="486460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7"/>
          <p:cNvSpPr/>
          <p:nvPr/>
        </p:nvSpPr>
        <p:spPr>
          <a:xfrm>
            <a:off x="6172200" y="4251960"/>
            <a:ext cx="5184648" cy="96012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7"/>
          <p:cNvSpPr/>
          <p:nvPr/>
        </p:nvSpPr>
        <p:spPr>
          <a:xfrm>
            <a:off x="6391656" y="443484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3B yazıcıyla ders modeli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7"/>
          <p:cNvSpPr/>
          <p:nvPr/>
        </p:nvSpPr>
        <p:spPr>
          <a:xfrm>
            <a:off x="9866376" y="4434840"/>
            <a:ext cx="1188720" cy="438912"/>
          </a:xfrm>
          <a:prstGeom prst="roundRect">
            <a:avLst>
              <a:gd fmla="val 29167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7"/>
          <p:cNvSpPr/>
          <p:nvPr/>
        </p:nvSpPr>
        <p:spPr>
          <a:xfrm>
            <a:off x="9921240" y="4562856"/>
            <a:ext cx="1078992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970"/>
              <a:buFont typeface="Arial"/>
              <a:buNone/>
            </a:pPr>
            <a:r>
              <a:rPr b="1" i="0" lang="en-US" sz="97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SEN SEÇ</a:t>
            </a:r>
            <a:endParaRPr b="0" i="0" sz="9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7"/>
          <p:cNvSpPr/>
          <p:nvPr/>
        </p:nvSpPr>
        <p:spPr>
          <a:xfrm>
            <a:off x="6391656" y="4864608"/>
            <a:ext cx="4480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i="1" lang="en-US" sz="1050">
                <a:solidFill>
                  <a:srgbClr val="64748B"/>
                </a:solidFill>
              </a:rPr>
              <a:t>C</a:t>
            </a:r>
            <a:r>
              <a:rPr b="0" i="1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evap: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7"/>
          <p:cNvSpPr/>
          <p:nvPr/>
        </p:nvSpPr>
        <p:spPr>
          <a:xfrm>
            <a:off x="676656" y="5687568"/>
            <a:ext cx="10881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4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2447"/>
                </a:solidFill>
                <a:latin typeface="Arial"/>
                <a:ea typeface="Arial"/>
                <a:cs typeface="Arial"/>
                <a:sym typeface="Arial"/>
              </a:rPr>
              <a:t>Önemli olan sadece kategori adı değil; seçiminin nedenini açıklayabilmen.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7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8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PERFORMANS GÖREVI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Takım görevi: “Geleceğin Akıllı Çözümü”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3–4 kişilik ekipler hâlinde okulda veya evde bir problemi seçin ve yenilikçi bir çözüm tasarlayın.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658368" y="1828800"/>
            <a:ext cx="2468880" cy="242316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8"/>
          <p:cNvSpPr/>
          <p:nvPr/>
        </p:nvSpPr>
        <p:spPr>
          <a:xfrm>
            <a:off x="822960" y="2029968"/>
            <a:ext cx="475488" cy="475488"/>
          </a:xfrm>
          <a:prstGeom prst="ellipse">
            <a:avLst/>
          </a:prstGeom>
          <a:solidFill>
            <a:srgbClr val="5B3DF5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822960" y="2139696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822960" y="2697480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Problemi seç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822960" y="3236976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Ör: sınıfta gereksiz yanan ışıklar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3447288" y="1828800"/>
            <a:ext cx="2468880" cy="242316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8"/>
          <p:cNvSpPr/>
          <p:nvPr/>
        </p:nvSpPr>
        <p:spPr>
          <a:xfrm>
            <a:off x="3611880" y="2029968"/>
            <a:ext cx="475488" cy="475488"/>
          </a:xfrm>
          <a:prstGeom prst="ellipse">
            <a:avLst/>
          </a:prstGeom>
          <a:solidFill>
            <a:srgbClr val="14B8D4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8"/>
          <p:cNvSpPr/>
          <p:nvPr/>
        </p:nvSpPr>
        <p:spPr>
          <a:xfrm>
            <a:off x="3611880" y="2139696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3611880" y="2697480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Teknolojiyi seç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3611880" y="3236976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YZ, IoT, robotik, AR/VR, 3B yazıcı...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236208" y="1828800"/>
            <a:ext cx="2468880" cy="242316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6400800" y="2029968"/>
            <a:ext cx="475488" cy="475488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6400800" y="2139696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6400800" y="2697480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Çözümü çiz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6400800" y="3236976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Nasıl çalışacağını basit bir şema ile göster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9025128" y="1828800"/>
            <a:ext cx="2468880" cy="2423160"/>
          </a:xfrm>
          <a:prstGeom prst="roundRect">
            <a:avLst>
              <a:gd fmla="val 566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9189720" y="2029968"/>
            <a:ext cx="475488" cy="475488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8"/>
          <p:cNvSpPr/>
          <p:nvPr/>
        </p:nvSpPr>
        <p:spPr>
          <a:xfrm>
            <a:off x="9189720" y="2139696"/>
            <a:ext cx="4754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9189720" y="2697480"/>
            <a:ext cx="212140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Sun ve savun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9189720" y="3236976"/>
            <a:ext cx="212140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40"/>
              <a:buFont typeface="Arial"/>
              <a:buNone/>
            </a:pPr>
            <a:r>
              <a:rPr b="0" i="0" lang="en-US" sz="124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“Neyi kolaylaştırıyor, hangi alanda?” sorularını yanıtla</a:t>
            </a:r>
            <a:endParaRPr b="0" i="0" sz="12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658368" y="4590288"/>
            <a:ext cx="10927080" cy="1325880"/>
          </a:xfrm>
          <a:prstGeom prst="roundRect">
            <a:avLst>
              <a:gd fmla="val 10345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8"/>
          <p:cNvSpPr/>
          <p:nvPr/>
        </p:nvSpPr>
        <p:spPr>
          <a:xfrm>
            <a:off x="914400" y="4809744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8C9F5"/>
                </a:solidFill>
                <a:latin typeface="Arial"/>
                <a:ea typeface="Arial"/>
                <a:cs typeface="Arial"/>
                <a:sym typeface="Arial"/>
              </a:rPr>
              <a:t>BAŞARI KRİTERLERİ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914400" y="5230368"/>
            <a:ext cx="10104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20"/>
              <a:buFont typeface="Arial"/>
              <a:buNone/>
            </a:pPr>
            <a:r>
              <a:rPr b="1" i="0" lang="en-US" sz="14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Problem net  •  ✓ Teknoloji doğru seçilmiş  •  ✓ Günlük yaşama yararı açıklanmış  •  ✓ Kullanım alanı belirtilmiş  •  ✓ Takım sunumu anlaşılır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8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9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ÖLÇME VE DEĞERLENDIRME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9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Dereceli puanlama anahtarı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9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Takım görevi için öğretmen değerlendirmesi + akran değerlendirmesi birlikte kullanılabilir.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621792" y="1691640"/>
            <a:ext cx="3154680" cy="594360"/>
          </a:xfrm>
          <a:prstGeom prst="rect">
            <a:avLst/>
          </a:prstGeom>
          <a:solidFill>
            <a:srgbClr val="102447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9"/>
          <p:cNvSpPr/>
          <p:nvPr/>
        </p:nvSpPr>
        <p:spPr>
          <a:xfrm>
            <a:off x="713232" y="1856232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Ölçüt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3776472" y="1691640"/>
            <a:ext cx="2423160" cy="594360"/>
          </a:xfrm>
          <a:prstGeom prst="rect">
            <a:avLst/>
          </a:prstGeom>
          <a:solidFill>
            <a:srgbClr val="5B3DF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9"/>
          <p:cNvSpPr/>
          <p:nvPr/>
        </p:nvSpPr>
        <p:spPr>
          <a:xfrm>
            <a:off x="3867912" y="185623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— Çok iyi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9"/>
          <p:cNvSpPr/>
          <p:nvPr/>
        </p:nvSpPr>
        <p:spPr>
          <a:xfrm>
            <a:off x="6199632" y="1691640"/>
            <a:ext cx="2423160" cy="594360"/>
          </a:xfrm>
          <a:prstGeom prst="rect">
            <a:avLst/>
          </a:prstGeom>
          <a:solidFill>
            <a:srgbClr val="5B3DF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9"/>
          <p:cNvSpPr/>
          <p:nvPr/>
        </p:nvSpPr>
        <p:spPr>
          <a:xfrm>
            <a:off x="6291072" y="185623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— Gelişiyor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9"/>
          <p:cNvSpPr/>
          <p:nvPr/>
        </p:nvSpPr>
        <p:spPr>
          <a:xfrm>
            <a:off x="8622792" y="1691640"/>
            <a:ext cx="2423160" cy="594360"/>
          </a:xfrm>
          <a:prstGeom prst="rect">
            <a:avLst/>
          </a:prstGeom>
          <a:solidFill>
            <a:srgbClr val="5B3DF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9"/>
          <p:cNvSpPr/>
          <p:nvPr/>
        </p:nvSpPr>
        <p:spPr>
          <a:xfrm>
            <a:off x="8714232" y="1856232"/>
            <a:ext cx="2240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20"/>
              <a:buFont typeface="Arial"/>
              <a:buNone/>
            </a:pPr>
            <a:r>
              <a:rPr b="1" i="0" lang="en-US" sz="122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— Destek gerekli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9"/>
          <p:cNvSpPr/>
          <p:nvPr/>
        </p:nvSpPr>
        <p:spPr>
          <a:xfrm>
            <a:off x="621792" y="2286000"/>
            <a:ext cx="3154680" cy="804672"/>
          </a:xfrm>
          <a:prstGeom prst="rect">
            <a:avLst/>
          </a:prstGeom>
          <a:solidFill>
            <a:srgbClr val="EDF2F9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731520" y="2423160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Problemi açıklama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9"/>
          <p:cNvSpPr/>
          <p:nvPr/>
        </p:nvSpPr>
        <p:spPr>
          <a:xfrm>
            <a:off x="3776472" y="2286000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3886200" y="2423160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Net ve günlük yaşamla ilişkili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6199632" y="2286000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6309360" y="2423160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Kısmen açık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9"/>
          <p:cNvSpPr/>
          <p:nvPr/>
        </p:nvSpPr>
        <p:spPr>
          <a:xfrm>
            <a:off x="8622792" y="2286000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8732520" y="2423160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Belirsiz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9"/>
          <p:cNvSpPr/>
          <p:nvPr/>
        </p:nvSpPr>
        <p:spPr>
          <a:xfrm>
            <a:off x="621792" y="3090672"/>
            <a:ext cx="3154680" cy="804672"/>
          </a:xfrm>
          <a:prstGeom prst="rect">
            <a:avLst/>
          </a:prstGeom>
          <a:solidFill>
            <a:srgbClr val="EDF2F9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731520" y="3227832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Teknoloji seçimi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9"/>
          <p:cNvSpPr/>
          <p:nvPr/>
        </p:nvSpPr>
        <p:spPr>
          <a:xfrm>
            <a:off x="3776472" y="3090672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9"/>
          <p:cNvSpPr/>
          <p:nvPr/>
        </p:nvSpPr>
        <p:spPr>
          <a:xfrm>
            <a:off x="3886200" y="3227832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Uygun ve gerekçeli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9"/>
          <p:cNvSpPr/>
          <p:nvPr/>
        </p:nvSpPr>
        <p:spPr>
          <a:xfrm>
            <a:off x="6199632" y="3090672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9"/>
          <p:cNvSpPr/>
          <p:nvPr/>
        </p:nvSpPr>
        <p:spPr>
          <a:xfrm>
            <a:off x="6309360" y="3227832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Uygun, gerekçe zayıf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9"/>
          <p:cNvSpPr/>
          <p:nvPr/>
        </p:nvSpPr>
        <p:spPr>
          <a:xfrm>
            <a:off x="8622792" y="3090672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9"/>
          <p:cNvSpPr/>
          <p:nvPr/>
        </p:nvSpPr>
        <p:spPr>
          <a:xfrm>
            <a:off x="8732520" y="3227832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Uygun değil / açıklanmamış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9"/>
          <p:cNvSpPr/>
          <p:nvPr/>
        </p:nvSpPr>
        <p:spPr>
          <a:xfrm>
            <a:off x="621792" y="3895344"/>
            <a:ext cx="3154680" cy="804672"/>
          </a:xfrm>
          <a:prstGeom prst="rect">
            <a:avLst/>
          </a:prstGeom>
          <a:solidFill>
            <a:srgbClr val="EDF2F9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731520" y="4032504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Sınıflandırma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9"/>
          <p:cNvSpPr/>
          <p:nvPr/>
        </p:nvSpPr>
        <p:spPr>
          <a:xfrm>
            <a:off x="3776472" y="3895344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3886200" y="4032504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Kullanım alanını doğru açıklar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6199632" y="3895344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9"/>
          <p:cNvSpPr/>
          <p:nvPr/>
        </p:nvSpPr>
        <p:spPr>
          <a:xfrm>
            <a:off x="6309360" y="4032504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Alanı söyler, açıklama eksik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8622792" y="3895344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9"/>
          <p:cNvSpPr/>
          <p:nvPr/>
        </p:nvSpPr>
        <p:spPr>
          <a:xfrm>
            <a:off x="8732520" y="4032504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Alan yanlış / yok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9"/>
          <p:cNvSpPr/>
          <p:nvPr/>
        </p:nvSpPr>
        <p:spPr>
          <a:xfrm>
            <a:off x="621792" y="4700016"/>
            <a:ext cx="3154680" cy="804672"/>
          </a:xfrm>
          <a:prstGeom prst="rect">
            <a:avLst/>
          </a:prstGeom>
          <a:solidFill>
            <a:srgbClr val="EDF2F9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9"/>
          <p:cNvSpPr/>
          <p:nvPr/>
        </p:nvSpPr>
        <p:spPr>
          <a:xfrm>
            <a:off x="731520" y="4837176"/>
            <a:ext cx="2935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Takım sunumu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9"/>
          <p:cNvSpPr/>
          <p:nvPr/>
        </p:nvSpPr>
        <p:spPr>
          <a:xfrm>
            <a:off x="3776472" y="4700016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9"/>
          <p:cNvSpPr/>
          <p:nvPr/>
        </p:nvSpPr>
        <p:spPr>
          <a:xfrm>
            <a:off x="3886200" y="4837176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Açık, düzenli, herkes katılır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9"/>
          <p:cNvSpPr/>
          <p:nvPr/>
        </p:nvSpPr>
        <p:spPr>
          <a:xfrm>
            <a:off x="6199632" y="4700016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9"/>
          <p:cNvSpPr/>
          <p:nvPr/>
        </p:nvSpPr>
        <p:spPr>
          <a:xfrm>
            <a:off x="6309360" y="4837176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Kısmen düzenli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9"/>
          <p:cNvSpPr/>
          <p:nvPr/>
        </p:nvSpPr>
        <p:spPr>
          <a:xfrm>
            <a:off x="8622792" y="4700016"/>
            <a:ext cx="242316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9"/>
          <p:cNvSpPr/>
          <p:nvPr/>
        </p:nvSpPr>
        <p:spPr>
          <a:xfrm>
            <a:off x="8732520" y="4837176"/>
            <a:ext cx="220370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Anlaşılması zor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9"/>
          <p:cNvSpPr/>
          <p:nvPr/>
        </p:nvSpPr>
        <p:spPr>
          <a:xfrm>
            <a:off x="9491472" y="5669280"/>
            <a:ext cx="1874520" cy="384048"/>
          </a:xfrm>
          <a:prstGeom prst="roundRect">
            <a:avLst>
              <a:gd fmla="val 47619" name="adj"/>
            </a:avLst>
          </a:prstGeom>
          <a:solidFill>
            <a:srgbClr val="EBFAF0"/>
          </a:solidFill>
          <a:ln cap="flat" cmpd="sng" w="12700">
            <a:solidFill>
              <a:srgbClr val="EBFA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9564624" y="5733288"/>
            <a:ext cx="172821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2C55E"/>
                </a:solidFill>
                <a:latin typeface="Arial"/>
                <a:ea typeface="Arial"/>
                <a:cs typeface="Arial"/>
                <a:sym typeface="Arial"/>
              </a:rPr>
              <a:t>Toplam: 12 puan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9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ÖLÇME • 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0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Eşleştirme etkinliği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20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Soldaki teknolojiyi sağdaki açıklamayla eşleştir. Cevaplarını defterine “1-C, 2-A...” biçiminde yaz.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20"/>
          <p:cNvSpPr/>
          <p:nvPr/>
        </p:nvSpPr>
        <p:spPr>
          <a:xfrm>
            <a:off x="749808" y="1755648"/>
            <a:ext cx="473659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859536" y="1865376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5B3DF5"/>
          </a:solidFill>
          <a:ln cap="flat" cmpd="sng" w="12700">
            <a:solidFill>
              <a:srgbClr val="5B3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"/>
          <p:cNvSpPr/>
          <p:nvPr/>
        </p:nvSpPr>
        <p:spPr>
          <a:xfrm>
            <a:off x="859536" y="194767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0"/>
          <p:cNvSpPr/>
          <p:nvPr/>
        </p:nvSpPr>
        <p:spPr>
          <a:xfrm>
            <a:off x="1371600" y="1920240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1. Yapay zekâ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0"/>
          <p:cNvSpPr/>
          <p:nvPr/>
        </p:nvSpPr>
        <p:spPr>
          <a:xfrm>
            <a:off x="749808" y="2560320"/>
            <a:ext cx="473659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20"/>
          <p:cNvSpPr/>
          <p:nvPr/>
        </p:nvSpPr>
        <p:spPr>
          <a:xfrm>
            <a:off x="859536" y="2670048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4B8D4"/>
          </a:solidFill>
          <a:ln cap="flat" cmpd="sng" w="12700">
            <a:solidFill>
              <a:srgbClr val="14B8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0"/>
          <p:cNvSpPr/>
          <p:nvPr/>
        </p:nvSpPr>
        <p:spPr>
          <a:xfrm>
            <a:off x="859536" y="2752344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0"/>
          <p:cNvSpPr/>
          <p:nvPr/>
        </p:nvSpPr>
        <p:spPr>
          <a:xfrm>
            <a:off x="1371600" y="2724912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2. IoT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749808" y="3364992"/>
            <a:ext cx="473659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0"/>
          <p:cNvSpPr/>
          <p:nvPr/>
        </p:nvSpPr>
        <p:spPr>
          <a:xfrm>
            <a:off x="859536" y="3474720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859536" y="3557016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1371600" y="3529584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3. 3</a:t>
            </a:r>
            <a:r>
              <a:rPr lang="en-US" sz="1500">
                <a:solidFill>
                  <a:srgbClr val="172033"/>
                </a:solidFill>
              </a:rPr>
              <a:t>D</a:t>
            </a: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 yazıcı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749808" y="4169664"/>
            <a:ext cx="473659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859536" y="4279392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0"/>
          <p:cNvSpPr/>
          <p:nvPr/>
        </p:nvSpPr>
        <p:spPr>
          <a:xfrm>
            <a:off x="859536" y="4361688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20"/>
          <p:cNvSpPr/>
          <p:nvPr/>
        </p:nvSpPr>
        <p:spPr>
          <a:xfrm>
            <a:off x="1371600" y="4334256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4. AR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749808" y="4974336"/>
            <a:ext cx="473659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20"/>
          <p:cNvSpPr/>
          <p:nvPr/>
        </p:nvSpPr>
        <p:spPr>
          <a:xfrm>
            <a:off x="859536" y="5084064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20"/>
          <p:cNvSpPr/>
          <p:nvPr/>
        </p:nvSpPr>
        <p:spPr>
          <a:xfrm>
            <a:off x="859536" y="516636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20"/>
          <p:cNvSpPr/>
          <p:nvPr/>
        </p:nvSpPr>
        <p:spPr>
          <a:xfrm>
            <a:off x="1371600" y="5138928"/>
            <a:ext cx="3950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5. Robotik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5925312" y="1755648"/>
            <a:ext cx="546811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0"/>
          <p:cNvSpPr/>
          <p:nvPr/>
        </p:nvSpPr>
        <p:spPr>
          <a:xfrm>
            <a:off x="6035040" y="1865376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"/>
          <p:cNvSpPr/>
          <p:nvPr/>
        </p:nvSpPr>
        <p:spPr>
          <a:xfrm>
            <a:off x="6035040" y="1947672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20"/>
          <p:cNvSpPr/>
          <p:nvPr/>
        </p:nvSpPr>
        <p:spPr>
          <a:xfrm>
            <a:off x="6547104" y="1920240"/>
            <a:ext cx="4681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A. Gerçek görüntünün üzerine dijital bilgi ekler.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5925312" y="2560320"/>
            <a:ext cx="546811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0"/>
          <p:cNvSpPr/>
          <p:nvPr/>
        </p:nvSpPr>
        <p:spPr>
          <a:xfrm>
            <a:off x="6035040" y="2670048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0"/>
          <p:cNvSpPr/>
          <p:nvPr/>
        </p:nvSpPr>
        <p:spPr>
          <a:xfrm>
            <a:off x="6035040" y="2752344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/>
          <p:nvPr/>
        </p:nvSpPr>
        <p:spPr>
          <a:xfrm>
            <a:off x="6547104" y="2724912"/>
            <a:ext cx="4681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B. Programlanan fiziksel görevleri yerine getirir.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5925312" y="3364992"/>
            <a:ext cx="546811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0"/>
          <p:cNvSpPr/>
          <p:nvPr/>
        </p:nvSpPr>
        <p:spPr>
          <a:xfrm>
            <a:off x="6035040" y="3474720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"/>
          <p:cNvSpPr/>
          <p:nvPr/>
        </p:nvSpPr>
        <p:spPr>
          <a:xfrm>
            <a:off x="6035040" y="3557016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>
            <a:off x="6547104" y="3529584"/>
            <a:ext cx="4681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C. Veriden örüntü öğrenip tahmin / öneri üretir.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5925312" y="4169664"/>
            <a:ext cx="546811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0"/>
          <p:cNvSpPr/>
          <p:nvPr/>
        </p:nvSpPr>
        <p:spPr>
          <a:xfrm>
            <a:off x="6035040" y="4279392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0"/>
          <p:cNvSpPr/>
          <p:nvPr/>
        </p:nvSpPr>
        <p:spPr>
          <a:xfrm>
            <a:off x="6035040" y="4361688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0"/>
          <p:cNvSpPr/>
          <p:nvPr/>
        </p:nvSpPr>
        <p:spPr>
          <a:xfrm>
            <a:off x="6547104" y="4334256"/>
            <a:ext cx="4681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D. Dijital modeli katman katman nesneye dönüştürür.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5925312" y="4974336"/>
            <a:ext cx="5468112" cy="640080"/>
          </a:xfrm>
          <a:prstGeom prst="roundRect">
            <a:avLst>
              <a:gd fmla="val 2142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0"/>
          <p:cNvSpPr/>
          <p:nvPr/>
        </p:nvSpPr>
        <p:spPr>
          <a:xfrm>
            <a:off x="6035040" y="5084064"/>
            <a:ext cx="402336" cy="402336"/>
          </a:xfrm>
          <a:prstGeom prst="roundRect">
            <a:avLst>
              <a:gd fmla="val 22727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0"/>
          <p:cNvSpPr/>
          <p:nvPr/>
        </p:nvSpPr>
        <p:spPr>
          <a:xfrm>
            <a:off x="6035040" y="5166360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0"/>
          <p:cNvSpPr/>
          <p:nvPr/>
        </p:nvSpPr>
        <p:spPr>
          <a:xfrm>
            <a:off x="6547104" y="5138928"/>
            <a:ext cx="46817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E. Cihazların sensör ve internetle veri paylaşmasını sağlar.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749808" y="594360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İpucu: Önce anahtar kelimeyi bul → sonra teknolojiyle eşleştir.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0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1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ÖLÇME • 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Boşluk doldurma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1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Kelime havuzundaki kavramları uygun boşluklara yerleştir. Her kelime bir kez kullanılır.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21"/>
          <p:cNvSpPr/>
          <p:nvPr/>
        </p:nvSpPr>
        <p:spPr>
          <a:xfrm>
            <a:off x="786384" y="1618488"/>
            <a:ext cx="1490472" cy="384048"/>
          </a:xfrm>
          <a:prstGeom prst="roundRect">
            <a:avLst>
              <a:gd fmla="val 47619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1"/>
          <p:cNvSpPr/>
          <p:nvPr/>
        </p:nvSpPr>
        <p:spPr>
          <a:xfrm>
            <a:off x="859536" y="1682496"/>
            <a:ext cx="13441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yapay zekâ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21"/>
          <p:cNvSpPr/>
          <p:nvPr/>
        </p:nvSpPr>
        <p:spPr>
          <a:xfrm>
            <a:off x="2404872" y="1618488"/>
            <a:ext cx="932688" cy="384048"/>
          </a:xfrm>
          <a:prstGeom prst="roundRect">
            <a:avLst>
              <a:gd fmla="val 47619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1"/>
          <p:cNvSpPr/>
          <p:nvPr/>
        </p:nvSpPr>
        <p:spPr>
          <a:xfrm>
            <a:off x="2478024" y="1682496"/>
            <a:ext cx="7863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IoT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21"/>
          <p:cNvSpPr/>
          <p:nvPr/>
        </p:nvSpPr>
        <p:spPr>
          <a:xfrm>
            <a:off x="3465576" y="1618488"/>
            <a:ext cx="1097280" cy="384048"/>
          </a:xfrm>
          <a:prstGeom prst="roundRect">
            <a:avLst>
              <a:gd fmla="val 47619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1"/>
          <p:cNvSpPr/>
          <p:nvPr/>
        </p:nvSpPr>
        <p:spPr>
          <a:xfrm>
            <a:off x="3538728" y="1682496"/>
            <a:ext cx="9509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robotik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4690872" y="1618488"/>
            <a:ext cx="1691640" cy="384048"/>
          </a:xfrm>
          <a:prstGeom prst="roundRect">
            <a:avLst>
              <a:gd fmla="val 47619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1"/>
          <p:cNvSpPr/>
          <p:nvPr/>
        </p:nvSpPr>
        <p:spPr>
          <a:xfrm>
            <a:off x="4764024" y="1682496"/>
            <a:ext cx="15453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sanal gerçeklik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21"/>
          <p:cNvSpPr/>
          <p:nvPr/>
        </p:nvSpPr>
        <p:spPr>
          <a:xfrm>
            <a:off x="6510528" y="1618488"/>
            <a:ext cx="1170432" cy="384048"/>
          </a:xfrm>
          <a:prstGeom prst="roundRect">
            <a:avLst>
              <a:gd fmla="val 47619" name="adj"/>
            </a:avLst>
          </a:prstGeom>
          <a:solidFill>
            <a:srgbClr val="EEEAFE"/>
          </a:solidFill>
          <a:ln cap="flat" cmpd="sng" w="12700">
            <a:solidFill>
              <a:srgbClr val="EE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1"/>
          <p:cNvSpPr/>
          <p:nvPr/>
        </p:nvSpPr>
        <p:spPr>
          <a:xfrm>
            <a:off x="6583680" y="1682496"/>
            <a:ext cx="10241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100">
                <a:solidFill>
                  <a:srgbClr val="5B3DF5"/>
                </a:solidFill>
              </a:rPr>
              <a:t>D</a:t>
            </a: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 yazıcı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7808976" y="1618488"/>
            <a:ext cx="1353312" cy="384048"/>
          </a:xfrm>
          <a:prstGeom prst="roundRect">
            <a:avLst>
              <a:gd fmla="val 47619" name="adj"/>
            </a:avLst>
          </a:prstGeom>
          <a:solidFill>
            <a:srgbClr val="E8FAFD"/>
          </a:solidFill>
          <a:ln cap="flat" cmpd="sng" w="12700">
            <a:solidFill>
              <a:srgbClr val="E8FA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1"/>
          <p:cNvSpPr/>
          <p:nvPr/>
        </p:nvSpPr>
        <p:spPr>
          <a:xfrm>
            <a:off x="7882128" y="168249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giyilebilir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21"/>
          <p:cNvSpPr/>
          <p:nvPr/>
        </p:nvSpPr>
        <p:spPr>
          <a:xfrm>
            <a:off x="804672" y="23317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1. Sensörlü cihazların internet üzerinden veri paylaşmasına __________ denir.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804672" y="292608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2. Fiziksel görevleri programla yerine getiren sistemler __________ alanına örnektir.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21"/>
          <p:cNvSpPr/>
          <p:nvPr/>
        </p:nvSpPr>
        <p:spPr>
          <a:xfrm>
            <a:off x="804672" y="352044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3. Bir modeli katman katman fiziksel nesneye dönüştüren cihaz __________dır.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804672" y="411480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4. Kullanıcıyı tamamen dijital bir ortamın içine alan teknoloji __________ olarak adlandırılır.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804672" y="470916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5. Verilerden örüntü öğrenerek tahmin / öneri üretebilen sistemlere __________ denir.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804672" y="5303520"/>
            <a:ext cx="105887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0"/>
              <a:buFont typeface="Arial"/>
              <a:buNone/>
            </a:pPr>
            <a:r>
              <a:rPr b="0" i="0" lang="en-US" sz="152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6. Akıllı saat, __________ teknoloji örneğidir.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1"/>
          <p:cNvSpPr/>
          <p:nvPr/>
        </p:nvSpPr>
        <p:spPr>
          <a:xfrm>
            <a:off x="786384" y="5916168"/>
            <a:ext cx="10588752" cy="384048"/>
          </a:xfrm>
          <a:prstGeom prst="roundRect">
            <a:avLst>
              <a:gd fmla="val 28571" name="adj"/>
            </a:avLst>
          </a:prstGeom>
          <a:solidFill>
            <a:srgbClr val="EEF2F7"/>
          </a:solidFill>
          <a:ln cap="flat" cmpd="sng" w="12700">
            <a:solidFill>
              <a:srgbClr val="EEF2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1"/>
          <p:cNvSpPr/>
          <p:nvPr/>
        </p:nvSpPr>
        <p:spPr>
          <a:xfrm>
            <a:off x="960120" y="6016752"/>
            <a:ext cx="10241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Kontrol: Bir kelimeyi iki kez kullandıysan yeniden düşün.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1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2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ÖLÇME • 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22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Mini senaryolar: Teknolojiyi bul ve alanını yaz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576072" y="1298448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Her senaryo için iki cevap ver: “Hangi teknoloji?” + “Hangi kullanım alanı?”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22"/>
          <p:cNvSpPr/>
          <p:nvPr/>
        </p:nvSpPr>
        <p:spPr>
          <a:xfrm>
            <a:off x="694944" y="1755648"/>
            <a:ext cx="1097280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2"/>
          <p:cNvSpPr/>
          <p:nvPr/>
        </p:nvSpPr>
        <p:spPr>
          <a:xfrm>
            <a:off x="896112" y="1938528"/>
            <a:ext cx="438912" cy="438912"/>
          </a:xfrm>
          <a:prstGeom prst="ellipse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"/>
          <p:cNvSpPr/>
          <p:nvPr/>
        </p:nvSpPr>
        <p:spPr>
          <a:xfrm>
            <a:off x="896112" y="202996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2"/>
          <p:cNvSpPr/>
          <p:nvPr/>
        </p:nvSpPr>
        <p:spPr>
          <a:xfrm>
            <a:off x="1444752" y="1920240"/>
            <a:ext cx="100126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çiftçi, telefonundan tarlanın nemini görüyor ve sulamayı uzaktan başlatıyor.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>
            <a:off x="694944" y="2761488"/>
            <a:ext cx="1097280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2"/>
          <p:cNvSpPr/>
          <p:nvPr/>
        </p:nvSpPr>
        <p:spPr>
          <a:xfrm>
            <a:off x="896112" y="2944368"/>
            <a:ext cx="438912" cy="438912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2"/>
          <p:cNvSpPr/>
          <p:nvPr/>
        </p:nvSpPr>
        <p:spPr>
          <a:xfrm>
            <a:off x="896112" y="303580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2"/>
          <p:cNvSpPr/>
          <p:nvPr/>
        </p:nvSpPr>
        <p:spPr>
          <a:xfrm>
            <a:off x="1444752" y="2926080"/>
            <a:ext cx="100126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lang="en-US" sz="1550">
                <a:solidFill>
                  <a:srgbClr val="172033"/>
                </a:solidFill>
              </a:rPr>
              <a:t>Bir öğrenci, VR gözlüğüyle uzaydaki gezegenleri ve yıldızları sanal bir ortamda keşfediyor. 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2"/>
          <p:cNvSpPr/>
          <p:nvPr/>
        </p:nvSpPr>
        <p:spPr>
          <a:xfrm>
            <a:off x="694944" y="3767328"/>
            <a:ext cx="1097280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2"/>
          <p:cNvSpPr/>
          <p:nvPr/>
        </p:nvSpPr>
        <p:spPr>
          <a:xfrm>
            <a:off x="896112" y="3950208"/>
            <a:ext cx="438912" cy="438912"/>
          </a:xfrm>
          <a:prstGeom prst="ellipse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2"/>
          <p:cNvSpPr/>
          <p:nvPr/>
        </p:nvSpPr>
        <p:spPr>
          <a:xfrm>
            <a:off x="896112" y="404164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1444752" y="3931920"/>
            <a:ext cx="100126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atölye, bilgisayarda çizilen parçanın ilk örneğini katman katman üretiyor.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694944" y="4773168"/>
            <a:ext cx="1097280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896112" y="4956048"/>
            <a:ext cx="438912" cy="438912"/>
          </a:xfrm>
          <a:prstGeom prst="ellipse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896112" y="5047488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444752" y="4937760"/>
            <a:ext cx="100126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Bir saat, kullanıcının günlük adım sayısını kaydedip telefona gönderiyor.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731520" y="5925312"/>
            <a:ext cx="10881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47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447"/>
                </a:solidFill>
                <a:latin typeface="Arial"/>
                <a:ea typeface="Arial"/>
                <a:cs typeface="Arial"/>
                <a:sym typeface="Arial"/>
              </a:rPr>
              <a:t>Çıkış bileti: Bugün öğrendiğin bir teknolojiyi ve günlük hayatı nasıl kolaylaştırdığını tek cümleyle yaz.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2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3"/>
          <p:cNvSpPr/>
          <p:nvPr/>
        </p:nvSpPr>
        <p:spPr>
          <a:xfrm>
            <a:off x="566928" y="43891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5B3DF5"/>
                </a:solidFill>
              </a:rPr>
              <a:t>Cevap </a:t>
            </a:r>
            <a:r>
              <a:rPr b="1" lang="en-US" sz="1100">
                <a:solidFill>
                  <a:srgbClr val="5B3DF5"/>
                </a:solidFill>
              </a:rPr>
              <a:t>Anahtarları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566928" y="713232"/>
            <a:ext cx="1088136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Cevap anahtarı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3"/>
          <p:cNvSpPr/>
          <p:nvPr/>
        </p:nvSpPr>
        <p:spPr>
          <a:xfrm>
            <a:off x="658368" y="1481328"/>
            <a:ext cx="5257800" cy="219456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"/>
          <p:cNvSpPr/>
          <p:nvPr/>
        </p:nvSpPr>
        <p:spPr>
          <a:xfrm>
            <a:off x="932688" y="1755648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3DF5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B3DF5"/>
                </a:solidFill>
                <a:latin typeface="Arial"/>
                <a:ea typeface="Arial"/>
                <a:cs typeface="Arial"/>
                <a:sym typeface="Arial"/>
              </a:rPr>
              <a:t>Eşleştirme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3"/>
          <p:cNvSpPr/>
          <p:nvPr/>
        </p:nvSpPr>
        <p:spPr>
          <a:xfrm>
            <a:off x="932688" y="2359152"/>
            <a:ext cx="4389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1–C   •   2–E   •   3–D   •   4–A   •   5–B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3"/>
          <p:cNvSpPr/>
          <p:nvPr/>
        </p:nvSpPr>
        <p:spPr>
          <a:xfrm>
            <a:off x="6099048" y="1481328"/>
            <a:ext cx="5449824" cy="2194560"/>
          </a:xfrm>
          <a:prstGeom prst="roundRect">
            <a:avLst>
              <a:gd fmla="val 6250" name="adj"/>
            </a:avLst>
          </a:prstGeom>
          <a:solidFill>
            <a:srgbClr val="FFFFFF"/>
          </a:solidFill>
          <a:ln cap="flat" cmpd="sng" w="12700">
            <a:solidFill>
              <a:srgbClr val="DCE3E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>
            <a:off x="6382512" y="1755648"/>
            <a:ext cx="2560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D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4B8D4"/>
                </a:solidFill>
                <a:latin typeface="Arial"/>
                <a:ea typeface="Arial"/>
                <a:cs typeface="Arial"/>
                <a:sym typeface="Arial"/>
              </a:rPr>
              <a:t>Boşluk doldurma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6400800" y="2194560"/>
            <a:ext cx="44348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1. IoT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2. robotik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3. 3B yazıcı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4. sanal gerçeklik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5. yapay zekâ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6. giyilebilir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658368" y="3977640"/>
            <a:ext cx="10890504" cy="1600200"/>
          </a:xfrm>
          <a:prstGeom prst="roundRect">
            <a:avLst>
              <a:gd fmla="val 8571" name="adj"/>
            </a:avLst>
          </a:prstGeom>
          <a:solidFill>
            <a:srgbClr val="102447"/>
          </a:solidFill>
          <a:ln cap="flat" cmpd="sng" w="12700">
            <a:solidFill>
              <a:srgbClr val="10244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B7C2D3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23"/>
          <p:cNvSpPr/>
          <p:nvPr/>
        </p:nvSpPr>
        <p:spPr>
          <a:xfrm>
            <a:off x="914400" y="4270248"/>
            <a:ext cx="2926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 senaryolar – örnek cevaplar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/>
          <p:nvPr/>
        </p:nvSpPr>
        <p:spPr>
          <a:xfrm>
            <a:off x="914400" y="4773168"/>
            <a:ext cx="100126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EDF9"/>
              </a:buClr>
              <a:buSzPts val="1420"/>
              <a:buFont typeface="Arial"/>
              <a:buNone/>
            </a:pPr>
            <a:r>
              <a:rPr b="0" i="0" lang="en-US" sz="1420" u="none" cap="none" strike="noStrike">
                <a:solidFill>
                  <a:srgbClr val="E3EDF9"/>
                </a:solidFill>
                <a:latin typeface="Arial"/>
                <a:ea typeface="Arial"/>
                <a:cs typeface="Arial"/>
                <a:sym typeface="Arial"/>
              </a:rPr>
              <a:t>1) IoT — Tarım   •   2) VR — Eğitim   •   3) 3B yazıcı — Üretim   •   4) Giyilebilir teknoloji / IoT — Sağlık veya spor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/>
          <p:nvPr/>
        </p:nvSpPr>
        <p:spPr>
          <a:xfrm>
            <a:off x="676656" y="5925312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Not: Bazı senaryolarda birden fazla sınıflandırma gerekçeli olarak kabul edilebilir.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 txBox="1"/>
          <p:nvPr>
            <p:ph idx="4294967295" type="sldNum"/>
          </p:nvPr>
        </p:nvSpPr>
        <p:spPr>
          <a:xfrm>
            <a:off x="11686032" y="6510528"/>
            <a:ext cx="320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