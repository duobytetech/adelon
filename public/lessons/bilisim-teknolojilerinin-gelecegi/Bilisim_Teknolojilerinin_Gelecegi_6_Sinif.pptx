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12192000"/>
  <p:embeddedFontLst>
    <p:embeddedFont>
      <p:font typeface="Int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h721ebe0cdd63b0ee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h721ebe0cdd63b0ee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h721ebe0cdd63b0ee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h721ebe0cdd63b0ee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h721ebe0cdd63b0ee_1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h721ebe0cdd63b0ee_1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h721ebe0cdd63b0ee_1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h721ebe0cdd63b0ee_1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h721ebe0cdd63b0ee_1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1480" y="6565392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BİLİŞİM TEKNOLOJİLERİ • 6. SINIF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0744200" y="656539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BTY.6.1.2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9646920" y="201168"/>
            <a:ext cx="2331720" cy="2331720"/>
          </a:xfrm>
          <a:prstGeom prst="ellipse">
            <a:avLst/>
          </a:prstGeom>
          <a:solidFill>
            <a:srgbClr val="312E81">
              <a:alpha val="87843"/>
            </a:srgbClr>
          </a:solidFill>
          <a:ln cap="flat" cmpd="sng" w="12700">
            <a:solidFill>
              <a:srgbClr val="312E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91440" y="5230368"/>
            <a:ext cx="1572768" cy="1572768"/>
          </a:xfrm>
          <a:prstGeom prst="ellipse">
            <a:avLst/>
          </a:prstGeom>
          <a:solidFill>
            <a:srgbClr val="155E75">
              <a:alpha val="80000"/>
            </a:srgbClr>
          </a:solidFill>
          <a:ln cap="flat" cmpd="sng" w="12700">
            <a:solidFill>
              <a:srgbClr val="155E7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658368" y="6400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Inter"/>
                <a:ea typeface="Inter"/>
                <a:cs typeface="Inter"/>
                <a:sym typeface="Inter"/>
              </a:rPr>
              <a:t>6. SINIF • 1. TEMA • 2. HAFTA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58368" y="1207008"/>
            <a:ext cx="65379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Bilişim Teknolojilerinin</a:t>
            </a:r>
            <a:endParaRPr b="0" i="0" sz="3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Geleceği</a:t>
            </a:r>
            <a:endParaRPr b="0" i="0" sz="3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58368" y="2761488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Dünden bugüne, bugünden yarına: teknolojinin nasıl değiştiğini keşfet, örüntüyü bul ve geleceğe dair varsayım üret.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58368" y="3794760"/>
            <a:ext cx="4892040" cy="420624"/>
          </a:xfrm>
          <a:prstGeom prst="roundRect">
            <a:avLst>
              <a:gd fmla="val 39130" name="adj"/>
            </a:avLst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68096" y="3886200"/>
            <a:ext cx="4672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Kazanım: BTY.6.1.2 — Gelecekteki durumlara yönelik çıkarım yapabilme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128525" y="1050225"/>
            <a:ext cx="4279800" cy="4526400"/>
          </a:xfrm>
          <a:prstGeom prst="roundRect">
            <a:avLst>
              <a:gd fmla="val 4557" name="adj"/>
            </a:avLst>
          </a:prstGeom>
          <a:solidFill>
            <a:srgbClr val="111C33"/>
          </a:solidFill>
          <a:ln cap="flat" cmpd="sng" w="12700">
            <a:solidFill>
              <a:srgbClr val="26334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333495" y="1415988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TEKNOLOJİ YOLCULUĞU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516375" y="1992060"/>
            <a:ext cx="1152000" cy="742500"/>
          </a:xfrm>
          <a:prstGeom prst="roundRect">
            <a:avLst>
              <a:gd fmla="val 6897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618788" y="2081671"/>
            <a:ext cx="947400" cy="512100"/>
          </a:xfrm>
          <a:prstGeom prst="rect">
            <a:avLst/>
          </a:prstGeom>
          <a:solidFill>
            <a:srgbClr val="7DD3FC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002836" y="2734553"/>
            <a:ext cx="179100" cy="2175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772407" y="2926577"/>
            <a:ext cx="640200" cy="102300"/>
          </a:xfrm>
          <a:prstGeom prst="roundRect">
            <a:avLst>
              <a:gd fmla="val 375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333495" y="3025332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1940’lar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494783" y="2385252"/>
            <a:ext cx="41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933695" y="2010348"/>
            <a:ext cx="891600" cy="548700"/>
          </a:xfrm>
          <a:prstGeom prst="roundRect">
            <a:avLst>
              <a:gd fmla="val 8333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9013705" y="2078928"/>
            <a:ext cx="731400" cy="388500"/>
          </a:xfrm>
          <a:prstGeom prst="rect">
            <a:avLst/>
          </a:prstGeom>
          <a:solidFill>
            <a:srgbClr val="7DD3FC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 rot="10800000">
            <a:off x="8842375" y="2547498"/>
            <a:ext cx="1074300" cy="205800"/>
          </a:xfrm>
          <a:prstGeom prst="trapezoid">
            <a:avLst>
              <a:gd fmla="val 25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732527" y="3025332"/>
            <a:ext cx="105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Bugün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774943" y="2385252"/>
            <a:ext cx="41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204711" y="1928052"/>
            <a:ext cx="841200" cy="841200"/>
          </a:xfrm>
          <a:prstGeom prst="roundRect">
            <a:avLst>
              <a:gd fmla="val 15217" name="adj"/>
            </a:avLst>
          </a:prstGeom>
          <a:solidFill>
            <a:srgbClr val="7C3AED"/>
          </a:solidFill>
          <a:ln cap="flat" cmpd="sng" w="152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0415023" y="2120076"/>
            <a:ext cx="411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094983" y="3025332"/>
            <a:ext cx="111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Yarın?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379215" y="3866580"/>
            <a:ext cx="27888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Bu derste sadece “ne oldu?” değil,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“buradan sonra ne olabilir?” diyeceğiz.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" name="Google Shape;47;p4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HADI DÜŞÜNELIM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20 yıl sonra cebimizde telefon olacak mı?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Geleceği tahmin etmek için önce bugünkü ihtiyaçlara ve değişim yönlerine bakarız.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66928" y="1847088"/>
            <a:ext cx="11018520" cy="749808"/>
          </a:xfrm>
          <a:prstGeom prst="roundRect">
            <a:avLst>
              <a:gd fmla="val 21951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322579988" rotWithShape="0" algn="bl" dist="161290000">
              <a:srgbClr val="000000">
                <a:alpha val="1254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868680" y="2057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Belki cihazlar küçülecek, belki üzerimize takılacak, belki de bambaşka bir biçime dönüşecek.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49808" y="2852928"/>
            <a:ext cx="10652760" cy="530352"/>
          </a:xfrm>
          <a:prstGeom prst="roundRect">
            <a:avLst>
              <a:gd fmla="val 3103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96766062500" rotWithShape="0" algn="bl" dist="-316400192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914400" y="2962656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950976" y="3017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508760" y="2944368"/>
            <a:ext cx="9646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30"/>
              <a:buFont typeface="Inter"/>
              <a:buNone/>
            </a:pPr>
            <a:r>
              <a:rPr b="0" i="0" lang="en-US" sz="13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Bugün kullandığın bir cihaz 10 yıl sonra neler yapabilir?</a:t>
            </a:r>
            <a:endParaRPr b="0" i="0" sz="13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49808" y="3566160"/>
            <a:ext cx="10652760" cy="530352"/>
          </a:xfrm>
          <a:prstGeom prst="roundRect">
            <a:avLst>
              <a:gd fmla="val 3103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2028925000000000" rotWithShape="0" algn="bl" dist="1806950656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14400" y="3675888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50976" y="37307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508760" y="3657600"/>
            <a:ext cx="9646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30"/>
              <a:buFont typeface="Inter"/>
              <a:buNone/>
            </a:pPr>
            <a:r>
              <a:rPr b="0" i="0" lang="en-US" sz="13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Evinde bir robot olsa hangi işi yapmasını isterdin?</a:t>
            </a:r>
            <a:endParaRPr b="0" i="0" sz="13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49808" y="4279392"/>
            <a:ext cx="10652760" cy="530352"/>
          </a:xfrm>
          <a:prstGeom prst="roundRect">
            <a:avLst>
              <a:gd fmla="val 3103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14400" y="4389120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50976" y="4443984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508760" y="4370832"/>
            <a:ext cx="9646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30"/>
              <a:buFont typeface="Inter"/>
              <a:buNone/>
            </a:pPr>
            <a:r>
              <a:rPr b="0" i="0" lang="en-US" sz="13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Gelecekte dersler sınıfta mı, sanal ortamda mı, yoksa ikisinin birlikte olduğu bir ortamda mı olabilir?</a:t>
            </a:r>
            <a:endParaRPr b="0" i="0" sz="13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49808" y="4992624"/>
            <a:ext cx="10652760" cy="530352"/>
          </a:xfrm>
          <a:prstGeom prst="roundRect">
            <a:avLst>
              <a:gd fmla="val 3103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14400" y="5102352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950976" y="515721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508760" y="5084064"/>
            <a:ext cx="9646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30"/>
              <a:buFont typeface="Inter"/>
              <a:buNone/>
            </a:pPr>
            <a:r>
              <a:rPr b="0" i="0" lang="en-US" sz="13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Bir teknoloji hem işimizi kolaylaştırıp hem çevreyi nasıl koruyabilir?</a:t>
            </a:r>
            <a:endParaRPr b="0" i="0" sz="13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68096" y="5897880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Sınıf içi kullanım: 30 saniye düşün → yanındaki arkadaşınla paylaş → 2 gönüllü cevap.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5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HER ŞEY BIR SORUYLA BAŞLADI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Alan Turing: “Bir makine düşünebilir mi?”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1912’de İngiltere’de doğan matematikçi Alan Turing, bilgisayar biliminin kuramsal temellerine büyük katkı sağladı.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58368" y="1965960"/>
            <a:ext cx="3063240" cy="3611880"/>
          </a:xfrm>
          <a:prstGeom prst="roundRect">
            <a:avLst>
              <a:gd fmla="val 5373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389888" y="2487168"/>
            <a:ext cx="1554480" cy="1554480"/>
          </a:xfrm>
          <a:prstGeom prst="ellipse">
            <a:avLst/>
          </a:prstGeom>
          <a:solidFill>
            <a:srgbClr val="E0E7FF"/>
          </a:solidFill>
          <a:ln cap="flat" cmpd="sng" w="12700">
            <a:solidFill>
              <a:srgbClr val="E0E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1664208" y="2889504"/>
            <a:ext cx="987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AT</a:t>
            </a:r>
            <a:endParaRPr b="0" i="0" sz="2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243584" y="42519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1912–1954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60120" y="4663440"/>
            <a:ext cx="2414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Matematik • Mantık • Kriptografi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005075" y="1965950"/>
            <a:ext cx="7470600" cy="1197900"/>
          </a:xfrm>
          <a:prstGeom prst="roundRect">
            <a:avLst>
              <a:gd fmla="val 17143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370832" y="2040735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Alan Turing Kimdir?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370825" y="2269325"/>
            <a:ext cx="63093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Inter"/>
              <a:buNone/>
            </a:pPr>
            <a:r>
              <a:rPr b="1" lang="en-US" sz="15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1912’de İngiltere’de doğan matematikçi. Daha ortada bilgisayar yokken </a:t>
            </a: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“Bir makine düşünebilir mi?” diye sordu ve bilgisayarların kuramsal temelini attı.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160520" y="3401568"/>
            <a:ext cx="91440" cy="9144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361688" y="3291840"/>
            <a:ext cx="6793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Inter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II. Dünya Savaşı sırasında Enigma şifrelerinin çözülmesine yönelik ekibin çalışmalarında önemli rol üstlendi.</a:t>
            </a:r>
            <a:endParaRPr b="0" i="0" sz="13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160520" y="4151376"/>
            <a:ext cx="91440" cy="9144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361688" y="4041648"/>
            <a:ext cx="6793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Inter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Hesaplamanın nasıl yapılabileceğini açıklayan kuramsal bir model geliştirdi: Turing Makinesi.</a:t>
            </a:r>
            <a:endParaRPr b="0" i="0" sz="13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160520" y="4901184"/>
            <a:ext cx="91440" cy="9144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361688" y="4791456"/>
            <a:ext cx="6793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Inter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1950’de makinelerin insan benzeri iletişim kurup kuramadığını tartışmak için Turing Testi fikrini ortaya koydu.</a:t>
            </a:r>
            <a:endParaRPr b="0" i="0" sz="13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160520" y="5577840"/>
            <a:ext cx="6995160" cy="566928"/>
          </a:xfrm>
          <a:prstGeom prst="roundRect">
            <a:avLst>
              <a:gd fmla="val 29032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407408" y="5751576"/>
            <a:ext cx="6537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Düşün: Bir bilgisayarın “düşündüğünü” söylemek için neye bakardın?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6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TURING’IN MIRASI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Turing’in iki büyük fikri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Biri “hesaplama nasıl yapılır?” sorusunu, diğeri “makine insan gibi iletişim kurabilir mi?” sorusunu ele alır.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58368" y="1975104"/>
            <a:ext cx="5321808" cy="3310128"/>
          </a:xfrm>
          <a:prstGeom prst="roundRect">
            <a:avLst>
              <a:gd fmla="val 4972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932688" y="2258568"/>
            <a:ext cx="475488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969264" y="2313432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32688" y="27889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Turing Makinesi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69264" y="3419856"/>
            <a:ext cx="91440" cy="91440"/>
          </a:xfrm>
          <a:prstGeom prst="ellipse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170432" y="3310128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0"/>
              <a:buFont typeface="Inter"/>
              <a:buNone/>
            </a:pPr>
            <a:r>
              <a:rPr b="0" i="0" lang="en-US" sz="12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Kâğıt ve kalemle bile modellenebilen basit bir hesaplama fikridir.</a:t>
            </a:r>
            <a:endParaRPr b="0" i="0" sz="12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69264" y="3986784"/>
            <a:ext cx="91440" cy="91440"/>
          </a:xfrm>
          <a:prstGeom prst="ellipse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170432" y="3877056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0"/>
              <a:buFont typeface="Inter"/>
              <a:buNone/>
            </a:pPr>
            <a:r>
              <a:rPr b="0" i="0" lang="en-US" sz="12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Bir şeritteki sembolleri okur, yazar ve belirli kurallara göre ilerler.</a:t>
            </a:r>
            <a:endParaRPr b="0" i="0" sz="12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69264" y="4553712"/>
            <a:ext cx="91440" cy="91440"/>
          </a:xfrm>
          <a:prstGeom prst="ellipse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170432" y="4443984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0"/>
              <a:buFont typeface="Inter"/>
              <a:buNone/>
            </a:pPr>
            <a:r>
              <a:rPr b="0" i="0" lang="en-US" sz="12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Bugünkü bilgisayarların çalışma mantığını anlamak için temel bir modeldir.</a:t>
            </a:r>
            <a:endParaRPr b="0" i="0" sz="12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217920" y="1975104"/>
            <a:ext cx="5321808" cy="3310128"/>
          </a:xfrm>
          <a:prstGeom prst="roundRect">
            <a:avLst>
              <a:gd fmla="val 4972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492240" y="2258568"/>
            <a:ext cx="475488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528816" y="2313432"/>
            <a:ext cx="4023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92240" y="27889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Turing Testi (1950)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528816" y="3419856"/>
            <a:ext cx="91440" cy="9144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729984" y="3310128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0"/>
              <a:buFont typeface="Inter"/>
              <a:buNone/>
            </a:pPr>
            <a:r>
              <a:rPr b="0" i="0" lang="en-US" sz="12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Bir kişi görmediği iki tarafla yazışır: biri insan, biri makinedir.</a:t>
            </a:r>
            <a:endParaRPr b="0" i="0" sz="12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528816" y="3986784"/>
            <a:ext cx="91440" cy="9144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729984" y="3877056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0"/>
              <a:buFont typeface="Inter"/>
              <a:buNone/>
            </a:pPr>
            <a:r>
              <a:rPr b="0" i="0" lang="en-US" sz="12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Cevaplara bakarak hangisinin makine olduğunu ayırt etmeye çalışır.</a:t>
            </a:r>
            <a:endParaRPr b="0" i="0" sz="12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528816" y="4553712"/>
            <a:ext cx="91440" cy="9144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729984" y="4443984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0"/>
              <a:buFont typeface="Inter"/>
              <a:buNone/>
            </a:pPr>
            <a:r>
              <a:rPr b="0" i="0" lang="en-US" sz="12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Ayırt edememesi, makinenin insan benzeri iletişim kurabildiğini düşündürür.</a:t>
            </a:r>
            <a:endParaRPr b="0" i="0" sz="12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874520" y="5596128"/>
            <a:ext cx="8412480" cy="548640"/>
          </a:xfrm>
          <a:prstGeom prst="roundRect">
            <a:avLst>
              <a:gd fmla="val 30000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084832" y="576072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5B21B6"/>
                </a:solidFill>
                <a:latin typeface="Inter"/>
                <a:ea typeface="Inter"/>
                <a:cs typeface="Inter"/>
                <a:sym typeface="Inter"/>
              </a:rPr>
              <a:t>Defter düşüncesi: “Bir bilgisayar gerçekten düşünebilir mi?” sorusuna 1 cümlelik gerekçe yaz.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7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İLK MAKINELER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İlk elektronik genel amaçlı bilgisayarlardan biri: ENIAC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1945’te tamamlanan ENIAC oda büyüklüğündeydi; bugün cebimize sığan cihazlar ondan çok daha güçlü.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58368" y="1920240"/>
            <a:ext cx="3794700" cy="3886200"/>
          </a:xfrm>
          <a:prstGeom prst="roundRect">
            <a:avLst>
              <a:gd fmla="val 4337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960120" y="2514600"/>
            <a:ext cx="612648" cy="1965960"/>
          </a:xfrm>
          <a:prstGeom prst="roundRect">
            <a:avLst>
              <a:gd fmla="val 7463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078992" y="2816352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1225296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371600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069848" y="3355848"/>
            <a:ext cx="393192" cy="109728"/>
          </a:xfrm>
          <a:prstGeom prst="roundRect">
            <a:avLst>
              <a:gd fmla="val 250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1719072" y="2514600"/>
            <a:ext cx="612648" cy="1965960"/>
          </a:xfrm>
          <a:prstGeom prst="roundRect">
            <a:avLst>
              <a:gd fmla="val 7463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1837944" y="2816352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984248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2130552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1828800" y="3355848"/>
            <a:ext cx="393192" cy="109728"/>
          </a:xfrm>
          <a:prstGeom prst="roundRect">
            <a:avLst>
              <a:gd fmla="val 250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478024" y="2514600"/>
            <a:ext cx="612648" cy="1965960"/>
          </a:xfrm>
          <a:prstGeom prst="roundRect">
            <a:avLst>
              <a:gd fmla="val 7463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596896" y="2816352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2743200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2889504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587752" y="3355848"/>
            <a:ext cx="393192" cy="109728"/>
          </a:xfrm>
          <a:prstGeom prst="roundRect">
            <a:avLst>
              <a:gd fmla="val 250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236976" y="2514600"/>
            <a:ext cx="612648" cy="1965960"/>
          </a:xfrm>
          <a:prstGeom prst="roundRect">
            <a:avLst>
              <a:gd fmla="val 7463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355848" y="2816352"/>
            <a:ext cx="73152" cy="7315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502152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48456" y="2816352"/>
            <a:ext cx="73152" cy="7315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346704" y="3355848"/>
            <a:ext cx="393192" cy="109728"/>
          </a:xfrm>
          <a:prstGeom prst="roundRect">
            <a:avLst>
              <a:gd fmla="val 250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069848" y="3749040"/>
            <a:ext cx="2788800" cy="10059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43F5E">
              <a:alpha val="0"/>
            </a:srgbClr>
          </a:solidFill>
          <a:ln cap="flat" cmpd="sng" w="381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1463040" y="4983480"/>
            <a:ext cx="2057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ENIAC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736592" y="1993392"/>
            <a:ext cx="6656832" cy="658368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956048" y="2157984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992624" y="22128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577840" y="2199133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Boyut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537960" y="2130557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Koca bir odayı dolduruyordu.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736592" y="2816352"/>
            <a:ext cx="6656832" cy="658368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956048" y="2980944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992624" y="303580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577840" y="3044943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Kullanım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537960" y="295349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Top atışı tabloları ve bilimsel hesaplamalar gibi yoğun işlemlerde kullanıldı.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736592" y="3639312"/>
            <a:ext cx="6656832" cy="658368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956048" y="3803904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992624" y="3858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577878" y="3867915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Programlama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537960" y="3776477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Yeni bir iş için kabloların ve anahtarların elle yeniden düzenlenmesi gerekebiliyordu.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736592" y="4462272"/>
            <a:ext cx="6656832" cy="658368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956048" y="4626864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992624" y="46817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577903" y="4686300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Programcılar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537960" y="461771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ENIAC’ın ilk programcıları arasında kadın matematikçiler vardı.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736592" y="5458968"/>
            <a:ext cx="6656832" cy="530352"/>
          </a:xfrm>
          <a:prstGeom prst="roundRect">
            <a:avLst>
              <a:gd fmla="val 31034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4956048" y="5623560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Bugünün akıllı telefonları; boyut, hız, erişim ve kullanım kolaylığı açısından ENIAC’tan çok ileridedir.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8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8"/>
          <p:cNvSpPr/>
          <p:nvPr/>
        </p:nvSpPr>
        <p:spPr>
          <a:xfrm rot="9346554">
            <a:off x="772792" y="2834564"/>
            <a:ext cx="2788647" cy="1005995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43F5E">
              <a:alpha val="0"/>
            </a:srgbClr>
          </a:solidFill>
          <a:ln cap="flat" cmpd="sng" w="381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ZAMAN ÇIZGISI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Bilgisayar, internet ve mobil teknolojilerin yolculuğu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Teknoloji tek bir anda değil; birbirini takip eden buluşların üzerine eklenerek gelişti.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1371600" y="1920240"/>
            <a:ext cx="0" cy="3840480"/>
          </a:xfrm>
          <a:prstGeom prst="straightConnector1">
            <a:avLst/>
          </a:prstGeom>
          <a:noFill/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/>
          <p:nvPr/>
        </p:nvSpPr>
        <p:spPr>
          <a:xfrm>
            <a:off x="1271016" y="2002536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664208" y="1947658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1940’lar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743200" y="1947658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ENIAC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754880" y="1947658"/>
            <a:ext cx="594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Elektronik bilgisayarlar çalışmaya başladı.</a:t>
            </a:r>
            <a:endParaRPr b="0" i="0" sz="1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271016" y="2642616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664208" y="2587788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1950’ler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743200" y="2587788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Transistör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754880" y="2587788"/>
            <a:ext cx="594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Bilgisayarların daha küçük ve verimli olmasının yolu açıldı.</a:t>
            </a:r>
            <a:endParaRPr b="0" i="0" sz="1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271016" y="3282696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664208" y="3227843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1960’lar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743200" y="3227843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ARPANET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754880" y="3227843"/>
            <a:ext cx="594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Bilgisayar ağlarının ve internetin temelleri atıldı.</a:t>
            </a:r>
            <a:endParaRPr b="0" i="0" sz="1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271016" y="3922776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1664208" y="3867923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1990’lar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743200" y="3867923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İnternet yaygınlaştı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754880" y="3867923"/>
            <a:ext cx="594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Web ve tarayıcılar günlük yaşama girmeye başladı.</a:t>
            </a:r>
            <a:endParaRPr b="0" i="0" sz="1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271016" y="4562856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1664208" y="4507990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2000’ler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3200" y="4507990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Akıllı telefonlar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54880" y="4507990"/>
            <a:ext cx="594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Mobil internet kullanımı hızla arttı.</a:t>
            </a:r>
            <a:endParaRPr b="0" i="0" sz="1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271016" y="5202936"/>
            <a:ext cx="201168" cy="201168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1664208" y="5148058"/>
            <a:ext cx="105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2020’ler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743200" y="5148058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5G ve yapay zekâ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754880" y="5148058"/>
            <a:ext cx="594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Bağlantılı ve akıllı cihazlar günlük yaşamda daha görünür oldu.</a:t>
            </a:r>
            <a:endParaRPr b="0" i="0" sz="1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9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KARŞILAŞTIRMA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ENIAC ile bugünün akıllı telefonu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Bir teknolojinin gelişimini karşılaştırırken boyut, hız, kullanıcı ve erişim gibi ölçütlere bakabiliriz.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85800" y="1965960"/>
            <a:ext cx="10835640" cy="37033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85800" y="1965960"/>
            <a:ext cx="10835640" cy="64008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868680" y="21945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Ölçüt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2834640" y="215798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1940’ların ENIAC’ı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903720" y="215798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Bugünün akıllı telefonu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68680" y="27614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Boyut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834640" y="2724912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Koca bir odayı doldururdu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903720" y="272491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Cebe sığar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7" name="Google Shape;237;p10"/>
          <p:cNvCxnSpPr/>
          <p:nvPr/>
        </p:nvCxnSpPr>
        <p:spPr>
          <a:xfrm>
            <a:off x="685800" y="3310128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0"/>
          <p:cNvSpPr/>
          <p:nvPr/>
        </p:nvSpPr>
        <p:spPr>
          <a:xfrm>
            <a:off x="868680" y="346557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Hız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834640" y="342900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Uzun süren hesapları çok daha kısa sürede bitirirdi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903720" y="342900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Aynı tür hesapları çok hızlı yapar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1" name="Google Shape;241;p10"/>
          <p:cNvCxnSpPr/>
          <p:nvPr/>
        </p:nvCxnSpPr>
        <p:spPr>
          <a:xfrm>
            <a:off x="685800" y="4014216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0"/>
          <p:cNvSpPr/>
          <p:nvPr/>
        </p:nvSpPr>
        <p:spPr>
          <a:xfrm>
            <a:off x="868680" y="41696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Kullanıcı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834640" y="4133088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Uzman ekipler kullanırdı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903720" y="413308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Neredeyse herkes kullanabilir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5" name="Google Shape;245;p10"/>
          <p:cNvCxnSpPr/>
          <p:nvPr/>
        </p:nvCxnSpPr>
        <p:spPr>
          <a:xfrm>
            <a:off x="685800" y="4718304"/>
            <a:ext cx="10835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0"/>
          <p:cNvSpPr/>
          <p:nvPr/>
        </p:nvSpPr>
        <p:spPr>
          <a:xfrm>
            <a:off x="868680" y="48737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Erişim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2834640" y="4837176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Büyük araştırma merkezlerinde bulunurdu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903720" y="483717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Dünyanın birçok yerinde erişilebilir</a:t>
            </a:r>
            <a:endParaRPr b="0" i="0" sz="11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60120" y="5870448"/>
            <a:ext cx="10149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Karşılaştırmadan çıkarım: Teknoloji yalnızca “daha hızlı” değil; aynı zamanda daha küçük, yaygın ve erişilebilir hâle gelmiştir.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10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KAZANIM • ÖRÜNTÜ BULMA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Tekrar eden örüntüler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Zaman çizelgesine baktığımızda değişimin rastgele olmadığını, bazı yönlerin tekrar ettiğini görebiliriz.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85800" y="1920240"/>
            <a:ext cx="2743200" cy="1536192"/>
          </a:xfrm>
          <a:prstGeom prst="roundRect">
            <a:avLst>
              <a:gd fmla="val 10714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886968" y="2121408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23544" y="217627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86968" y="259689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KÜÇÜLÜYOR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886968" y="290779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Inter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Odadan cebe, cepten bileğe</a:t>
            </a:r>
            <a:endParaRPr b="0" i="0" sz="10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005072" y="1920240"/>
            <a:ext cx="2743200" cy="1536192"/>
          </a:xfrm>
          <a:prstGeom prst="roundRect">
            <a:avLst>
              <a:gd fmla="val 10714" name="adj"/>
            </a:avLst>
          </a:prstGeom>
          <a:solidFill>
            <a:srgbClr val="FFFBE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206240" y="2121408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242816" y="217627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206240" y="259689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HIZLANIYOR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206240" y="290779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Inter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Saatler süren işlem saniyelere iniyor</a:t>
            </a:r>
            <a:endParaRPr b="0" i="0" sz="10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7324344" y="1920240"/>
            <a:ext cx="2743200" cy="1536192"/>
          </a:xfrm>
          <a:prstGeom prst="roundRect">
            <a:avLst>
              <a:gd fmla="val 10714" name="adj"/>
            </a:avLst>
          </a:prstGeom>
          <a:solidFill>
            <a:srgbClr val="ECFE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7525512" y="2121408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562088" y="217627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7525512" y="259689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BAĞLANIYOR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525512" y="290779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Inter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Cihazlar ve insanlar ağlar üzerinden iletişim kuruyor</a:t>
            </a:r>
            <a:endParaRPr b="0" i="0" sz="10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2359152" y="3867912"/>
            <a:ext cx="2743200" cy="1536192"/>
          </a:xfrm>
          <a:prstGeom prst="roundRect">
            <a:avLst>
              <a:gd fmla="val 10714" name="adj"/>
            </a:avLst>
          </a:prstGeom>
          <a:solidFill>
            <a:srgbClr val="F5F3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2560320" y="4069080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2596896" y="4123944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2560320" y="45445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AKILLANIYOR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2560320" y="485546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Inter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Veriden öğrenen sistemler karar desteği sunuyor</a:t>
            </a:r>
            <a:endParaRPr b="0" i="0" sz="10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678424" y="3867912"/>
            <a:ext cx="2743200" cy="1536192"/>
          </a:xfrm>
          <a:prstGeom prst="roundRect">
            <a:avLst>
              <a:gd fmla="val 10714" name="adj"/>
            </a:avLst>
          </a:prstGeom>
          <a:solidFill>
            <a:srgbClr val="ECFDF5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5879592" y="4069080"/>
            <a:ext cx="438912" cy="310896"/>
          </a:xfrm>
          <a:prstGeom prst="roundRect">
            <a:avLst>
              <a:gd fmla="val 35294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5916168" y="4123944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5879592" y="45445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YAYGINLAŞIYOR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879592" y="485546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Inter"/>
              <a:buNone/>
            </a:pPr>
            <a:r>
              <a:rPr b="0" i="0" lang="en-US" sz="10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Uzman araçlarından günlük yaşamın parçasına dönüşüyor</a:t>
            </a:r>
            <a:endParaRPr b="0" i="0" sz="10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11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KAZANIM • GELECEĞE ÇIKARIM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Örüntüden varsayıma: bilgisayarın yolculuğu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Bir örüntünün sürmesi hâlinde gelecekte ne olabileceğine dair “kesin” değil, gerekçeli bir varsayım üretiriz.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777240" y="1965960"/>
            <a:ext cx="3246120" cy="2852928"/>
          </a:xfrm>
          <a:prstGeom prst="roundRect">
            <a:avLst>
              <a:gd fmla="val 576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1984248" y="2395728"/>
            <a:ext cx="864108" cy="556870"/>
          </a:xfrm>
          <a:prstGeom prst="roundRect">
            <a:avLst>
              <a:gd fmla="val 6897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2061058" y="2462936"/>
            <a:ext cx="710489" cy="384048"/>
          </a:xfrm>
          <a:prstGeom prst="rect">
            <a:avLst/>
          </a:prstGeom>
          <a:solidFill>
            <a:srgbClr val="7DD3FC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2349094" y="2952598"/>
            <a:ext cx="134417" cy="1632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2176272" y="3096616"/>
            <a:ext cx="480060" cy="76810"/>
          </a:xfrm>
          <a:prstGeom prst="roundRect">
            <a:avLst>
              <a:gd fmla="val 37500" name="adj"/>
            </a:avLst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124712" y="33375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DÜN • 1980’LER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051560" y="3685032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Masaüstü bilgisayar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088136" y="4096512"/>
            <a:ext cx="26243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Yerinden kalkmaz, odanın bir köşesinde dururdu.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050792" y="3108960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343400" y="1965960"/>
            <a:ext cx="3246120" cy="2852928"/>
          </a:xfrm>
          <a:prstGeom prst="roundRect">
            <a:avLst>
              <a:gd fmla="val 576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5568696" y="2423160"/>
            <a:ext cx="748894" cy="460858"/>
          </a:xfrm>
          <a:prstGeom prst="roundRect">
            <a:avLst>
              <a:gd fmla="val 8333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5635904" y="2480767"/>
            <a:ext cx="614477" cy="326441"/>
          </a:xfrm>
          <a:prstGeom prst="rect">
            <a:avLst/>
          </a:prstGeom>
          <a:solidFill>
            <a:srgbClr val="7DD3FC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 rot="10800000">
            <a:off x="5491886" y="2874416"/>
            <a:ext cx="902513" cy="172822"/>
          </a:xfrm>
          <a:prstGeom prst="trapezoid">
            <a:avLst>
              <a:gd fmla="val 25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4690872" y="33375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BUGÜN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617720" y="3685032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Dizüstü bilgisayar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654296" y="4096512"/>
            <a:ext cx="26243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Çantada taşınır; daha küçük ve çok daha hızlıdır.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7616952" y="3108960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7909560" y="1965960"/>
            <a:ext cx="3246120" cy="2852928"/>
          </a:xfrm>
          <a:prstGeom prst="roundRect">
            <a:avLst>
              <a:gd fmla="val 5769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9171432" y="2395728"/>
            <a:ext cx="786384" cy="786384"/>
          </a:xfrm>
          <a:prstGeom prst="roundRect">
            <a:avLst>
              <a:gd fmla="val 18605" name="adj"/>
            </a:avLst>
          </a:prstGeom>
          <a:solidFill>
            <a:srgbClr val="7C3AED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9390888" y="2606040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8257032" y="33375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YARIN • VARSAYIM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8183880" y="3685032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Kuantum bilgisayar?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8220456" y="4096512"/>
            <a:ext cx="26243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Bazı zor problemleri farklı yöntemlerle çok daha hızlı çözebilir.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68680" y="5230368"/>
            <a:ext cx="5257800" cy="713232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1078992" y="5449824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Örüntü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828800" y="5404104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0"/>
              <a:buFont typeface="Inter"/>
              <a:buNone/>
            </a:pPr>
            <a:r>
              <a:rPr b="0" i="0" lang="en-US" sz="11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Bilgisayarlar zamanla küçülüyor, hızlanıyor ve daha taşınabilir oluyor.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345936" y="5230368"/>
            <a:ext cx="4919472" cy="713232"/>
          </a:xfrm>
          <a:prstGeom prst="roundRect">
            <a:avLst>
              <a:gd fmla="val 23077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6565392" y="544982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Varsayım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7424928" y="5404104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20"/>
              <a:buFont typeface="Inter"/>
              <a:buNone/>
            </a:pPr>
            <a:r>
              <a:rPr b="0" i="0" lang="en-US" sz="11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 yön sürerse yeni bilgisayar türleri bazı karmaşık işlemlerde daha etkili olabilir.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12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MERAK KÖŞESI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Kuantum bilgisayar nedir?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Kuantum bilgisayarlar, kuantum fiziğinin özelliklerinden yararlanarak bazı problem türlerini klasik bilgisayarlardan farklı biçimde işler.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13232" y="2011680"/>
            <a:ext cx="5285232" cy="2971800"/>
          </a:xfrm>
          <a:prstGeom prst="roundRect">
            <a:avLst>
              <a:gd fmla="val 5538" name="adj"/>
            </a:avLst>
          </a:prstGeom>
          <a:solidFill>
            <a:srgbClr val="FFFFFF"/>
          </a:solidFill>
          <a:ln cap="flat" cmpd="sng" w="12700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987552" y="239572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100 kapılı koridor benzetmesi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987552" y="2926080"/>
            <a:ext cx="4526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Klasik bir bilgisayarı kapıları tek tek kontrol eden biri gibi düşün. Kuantum bilgisayar ise bazı problemlerde olasılıkları kuantum durumlarıyla farklı bir biçimde işleyebilir.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4" name="Google Shape;334;p13"/>
          <p:cNvCxnSpPr/>
          <p:nvPr/>
        </p:nvCxnSpPr>
        <p:spPr>
          <a:xfrm>
            <a:off x="1051560" y="4242816"/>
            <a:ext cx="4251960" cy="0"/>
          </a:xfrm>
          <a:prstGeom prst="straightConnector1">
            <a:avLst/>
          </a:prstGeom>
          <a:noFill/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3"/>
          <p:cNvSpPr/>
          <p:nvPr/>
        </p:nvSpPr>
        <p:spPr>
          <a:xfrm>
            <a:off x="1005840" y="4407408"/>
            <a:ext cx="44988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Önemli: Her problemde daha hızlı değildir.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236208" y="2011680"/>
            <a:ext cx="5257800" cy="2971800"/>
          </a:xfrm>
          <a:prstGeom prst="roundRect">
            <a:avLst>
              <a:gd fmla="val 5538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528816" y="239572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Nerelerde işe yarayabilir?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556248" y="3054096"/>
            <a:ext cx="91440" cy="914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757416" y="2944368"/>
            <a:ext cx="4142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Yeni ilaç ve malzeme araştırmaları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556248" y="3483864"/>
            <a:ext cx="91440" cy="914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757416" y="3374136"/>
            <a:ext cx="4142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Karmaşık optimizasyon problemleri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556248" y="3913632"/>
            <a:ext cx="91440" cy="914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757416" y="3803904"/>
            <a:ext cx="4142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Bazı şifreleme ve güvenlik problemleri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556248" y="4343400"/>
            <a:ext cx="91440" cy="914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757416" y="4233672"/>
            <a:ext cx="4142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Bilimsel modelleme ve simülasyonlar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554480" y="5349240"/>
            <a:ext cx="9052560" cy="603504"/>
          </a:xfrm>
          <a:prstGeom prst="roundRect">
            <a:avLst>
              <a:gd fmla="val 27273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1810512" y="5541264"/>
            <a:ext cx="8549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Bugün evlerimizde yaygın değil. Çoğu sistem özel laboratuvar koşullarında çalışıyor; bu yüzden “kesin olacak” değil, “olabilir” deriz.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13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KAZANIM • VARSAYIM TABLOSU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Dün neydi, bugün ne, yarın ne olabilir?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Mor sütun bir tahmindir: örüntüyü bir adım ileri taşır, fakat kesinlik iddiası taşımaz.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58368" y="1828800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ALAN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2715768" y="1828800"/>
            <a:ext cx="2569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DÜN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504688" y="1828800"/>
            <a:ext cx="25694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BUGÜN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8293608" y="1828800"/>
            <a:ext cx="3209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YARIN • VARSAYIM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48640" y="2176272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658368" y="2267712"/>
            <a:ext cx="1783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Eğitim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606040" y="2176272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2715768" y="2267712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Kara tahta ve basılı kitap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5394960" y="2176272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5504688" y="2267712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Akıllı tahta, çevrim içi ders, VR denemeleri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183880" y="2176272"/>
            <a:ext cx="3374136" cy="621792"/>
          </a:xfrm>
          <a:prstGeom prst="roundRect">
            <a:avLst>
              <a:gd fmla="val 14706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8293608" y="2267712"/>
            <a:ext cx="3154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070"/>
              <a:buFont typeface="Inter"/>
              <a:buNone/>
            </a:pPr>
            <a:r>
              <a:rPr b="1" i="0" lang="en-US" sz="1070" u="none" cap="none" strike="noStrike">
                <a:solidFill>
                  <a:srgbClr val="3730A3"/>
                </a:solidFill>
                <a:latin typeface="Inter"/>
                <a:ea typeface="Inter"/>
                <a:cs typeface="Inter"/>
                <a:sym typeface="Inter"/>
              </a:rPr>
              <a:t>Sınıfa hologramla katılan uzmanlar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48640" y="2926080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58368" y="3017520"/>
            <a:ext cx="1783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İletişim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2606040" y="2926080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2715768" y="301752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Mektup, sabit telefon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394960" y="2926080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5504688" y="301752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Anlık mesaj, görüntülü görüşme, çeviri uygulamaları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8183880" y="2926080"/>
            <a:ext cx="3374136" cy="621792"/>
          </a:xfrm>
          <a:prstGeom prst="roundRect">
            <a:avLst>
              <a:gd fmla="val 14706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8293608" y="3017520"/>
            <a:ext cx="3154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070"/>
              <a:buFont typeface="Inter"/>
              <a:buNone/>
            </a:pPr>
            <a:r>
              <a:rPr b="1" i="0" lang="en-US" sz="1070" u="none" cap="none" strike="noStrike">
                <a:solidFill>
                  <a:srgbClr val="3730A3"/>
                </a:solidFill>
                <a:latin typeface="Inter"/>
                <a:ea typeface="Inter"/>
                <a:cs typeface="Inter"/>
                <a:sym typeface="Inter"/>
              </a:rPr>
              <a:t>Düşünceyi yazıya dönüştüren beyin–bilgisayar arayüzleri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548640" y="3675888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658368" y="3767328"/>
            <a:ext cx="1783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Ulaşım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2606040" y="3675888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2715768" y="3767328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Kâğıt harita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5394960" y="3675888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5504688" y="3767328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Navigasyon ve sürücü yardımcıları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8183880" y="3675888"/>
            <a:ext cx="3374136" cy="621792"/>
          </a:xfrm>
          <a:prstGeom prst="roundRect">
            <a:avLst>
              <a:gd fmla="val 14706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8293608" y="3767328"/>
            <a:ext cx="3154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070"/>
              <a:buFont typeface="Inter"/>
              <a:buNone/>
            </a:pPr>
            <a:r>
              <a:rPr b="1" i="0" lang="en-US" sz="1070" u="none" cap="none" strike="noStrike">
                <a:solidFill>
                  <a:srgbClr val="3730A3"/>
                </a:solidFill>
                <a:latin typeface="Inter"/>
                <a:ea typeface="Inter"/>
                <a:cs typeface="Inter"/>
                <a:sym typeface="Inter"/>
              </a:rPr>
              <a:t>Trafiği kendi aralarında konuşarak yöneten araçlar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48640" y="4425696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658368" y="4517136"/>
            <a:ext cx="1783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Sağlık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2606040" y="4425696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2715768" y="4517136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Ölçüm çoğunlukla hastanede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5394960" y="4425696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5504688" y="4517136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Akıllı saatle nabız ve aktivite takibi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8183880" y="4425696"/>
            <a:ext cx="3374136" cy="621792"/>
          </a:xfrm>
          <a:prstGeom prst="roundRect">
            <a:avLst>
              <a:gd fmla="val 14706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8293608" y="4517136"/>
            <a:ext cx="3154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070"/>
              <a:buFont typeface="Inter"/>
              <a:buNone/>
            </a:pPr>
            <a:r>
              <a:rPr b="1" i="0" lang="en-US" sz="1070" u="none" cap="none" strike="noStrike">
                <a:solidFill>
                  <a:srgbClr val="3730A3"/>
                </a:solidFill>
                <a:latin typeface="Inter"/>
                <a:ea typeface="Inter"/>
                <a:cs typeface="Inter"/>
                <a:sym typeface="Inter"/>
              </a:rPr>
              <a:t>Belirti çıkmadan uyarabilen mikro sensörler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48640" y="5175504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658368" y="5266944"/>
            <a:ext cx="1783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Ev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2606040" y="5175504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2715768" y="5266944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Her cihaz ayrı düğmeyle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5394960" y="5175504"/>
            <a:ext cx="273405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5504688" y="5266944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Telefondan ve sesle kontrol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8183880" y="5175504"/>
            <a:ext cx="3374136" cy="621792"/>
          </a:xfrm>
          <a:prstGeom prst="roundRect">
            <a:avLst>
              <a:gd fmla="val 14706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8293608" y="5266944"/>
            <a:ext cx="3154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070"/>
              <a:buFont typeface="Inter"/>
              <a:buNone/>
            </a:pPr>
            <a:r>
              <a:rPr b="1" i="0" lang="en-US" sz="1070" u="none" cap="none" strike="noStrike">
                <a:solidFill>
                  <a:srgbClr val="3730A3"/>
                </a:solidFill>
                <a:latin typeface="Inter"/>
                <a:ea typeface="Inter"/>
                <a:cs typeface="Inter"/>
                <a:sym typeface="Inter"/>
              </a:rPr>
              <a:t>Ev işlerini kendi başına yapan yardımcı robotlar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14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KAZANIM • ETKIYI DEĞERLENDIRME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Teknolojinin toplumsal etkileri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Hiçbir teknoloji yalnızca iyi ya da yalnızca kötü değildir. Aynı gelişmenin farklı etkileri olabilir.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676656" y="1874520"/>
            <a:ext cx="5349240" cy="3456432"/>
          </a:xfrm>
          <a:prstGeom prst="roundRect">
            <a:avLst>
              <a:gd fmla="val 4762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987552" y="222199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OLUMLU YÖNLER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1005840" y="28986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1207008" y="27889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Bilgiye farklı yerlerden erişim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005840" y="33558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207008" y="32461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Sağlıkta erken uyarı ve takip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1005840" y="38130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1207008" y="37033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Engelli bireyler için erişilebilirlik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005840" y="42702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1207008" y="41605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Uzaktaki insanlarla anında iletişim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1005840" y="4727448"/>
            <a:ext cx="91440" cy="914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1207008" y="46177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Tehlikeli işlerin makinelerce yapılabilmesi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6236208" y="1874520"/>
            <a:ext cx="5285232" cy="3456432"/>
          </a:xfrm>
          <a:prstGeom prst="roundRect">
            <a:avLst>
              <a:gd fmla="val 4762" name="adj"/>
            </a:avLst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6537960" y="222199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123C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BE123C"/>
                </a:solidFill>
                <a:latin typeface="Inter"/>
                <a:ea typeface="Inter"/>
                <a:cs typeface="Inter"/>
                <a:sym typeface="Inter"/>
              </a:rPr>
              <a:t>DİKKAT EDİLMESİ GEREKENLER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6556248" y="2898648"/>
            <a:ext cx="91440" cy="91440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6757416" y="27889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Ekran bağımlılığı ve hareketsizlik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6556248" y="3355848"/>
            <a:ext cx="91440" cy="91440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6757416" y="32461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Kişisel verilerin güvenliği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556248" y="3813048"/>
            <a:ext cx="91440" cy="91440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6757416" y="37033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Yanlış bilginin hızla yayılması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6556248" y="4270248"/>
            <a:ext cx="91440" cy="91440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6757416" y="41605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Herkesin teknolojiye eşit erişememesi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6556248" y="4727448"/>
            <a:ext cx="91440" cy="91440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6757416" y="4617720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0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Yüz yüze ilişkilerin azalması riski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1097280" y="5541264"/>
            <a:ext cx="9966960" cy="603504"/>
          </a:xfrm>
          <a:prstGeom prst="roundRect">
            <a:avLst>
              <a:gd fmla="val 2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1353312" y="5715000"/>
            <a:ext cx="9464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Yeni meslek örnekleri: robot davranış denetçisi • beyin–bilgisayar arayüzü teknisyeni • uzay çöpü temizleme operatörü • dikey tarım sistem uzmanı</a:t>
            </a:r>
            <a:endParaRPr b="0" i="0" sz="10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" name="Google Shape;436;p15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TOPLUM VE ÇEVRE YARARI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Çevre ve toplum için yarının teknolojileri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Bugünkü çözümleri bir adım ileri taşıyarak gelecekte neye dönüşebileceklerini düşünebiliriz.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777240" y="1874520"/>
            <a:ext cx="10652760" cy="566928"/>
          </a:xfrm>
          <a:prstGeom prst="roundRect">
            <a:avLst>
              <a:gd fmla="val 2903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960120" y="2002536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996696" y="2057400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1536192" y="19842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Akıllı sulama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4572000" y="1965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047488" y="1965960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Kendini yöneten akıllı tarlalar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777240" y="2587752"/>
            <a:ext cx="10652760" cy="566928"/>
          </a:xfrm>
          <a:prstGeom prst="roundRect">
            <a:avLst>
              <a:gd fmla="val 2903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960120" y="271576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996696" y="277063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1536192" y="2697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Atık ayırma makineleri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4572000" y="267919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5047488" y="2679192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Plastiği parçalayabilen biyolojik ve kimyasal çözümler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777240" y="3300984"/>
            <a:ext cx="10652760" cy="566928"/>
          </a:xfrm>
          <a:prstGeom prst="roundRect">
            <a:avLst>
              <a:gd fmla="val 2903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960120" y="3429000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996696" y="3483864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1536192" y="34107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Karbon ayak izi ölçümü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4572000" y="339242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047488" y="3392424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Havadaki karbondioksiti yakalayıp yararlı ürünlere dönüştüren sistemler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777240" y="4014216"/>
            <a:ext cx="10652760" cy="566928"/>
          </a:xfrm>
          <a:prstGeom prst="roundRect">
            <a:avLst>
              <a:gd fmla="val 2903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960120" y="4142232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996696" y="4197096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1536192" y="412394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İklim modelleri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4572000" y="41056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5047488" y="4105656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Afet risklerini daha erken bildiren uyarı ağları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777240" y="4727448"/>
            <a:ext cx="10652760" cy="566928"/>
          </a:xfrm>
          <a:prstGeom prst="roundRect">
            <a:avLst>
              <a:gd fmla="val 2903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960120" y="4855464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996696" y="4910328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1536192" y="483717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Güneş enerjisi cihazları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4572000" y="48188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5047488" y="4818888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Enerji üreten pencere yüzeyleri ve giyilebilir sistemler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1051560" y="5669280"/>
            <a:ext cx="10058400" cy="530352"/>
          </a:xfrm>
          <a:prstGeom prst="roundRect">
            <a:avLst>
              <a:gd fmla="val 31034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1298448" y="5833872"/>
            <a:ext cx="9555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10"/>
              <a:buFont typeface="Inter"/>
              <a:buNone/>
            </a:pPr>
            <a:r>
              <a:rPr b="1" i="0" lang="en-US" sz="1110" u="none" cap="none" strike="noStrike">
                <a:solidFill>
                  <a:srgbClr val="5B21B6"/>
                </a:solidFill>
                <a:latin typeface="Inter"/>
                <a:ea typeface="Inter"/>
                <a:cs typeface="Inter"/>
                <a:sym typeface="Inter"/>
              </a:rPr>
              <a:t>Ayrıca yaşlı ve engelli bireyler için: yardımcı robotlar, akıllı lensler ve beyin–bilgisayar arayüzleri gibi çözümler geliştirilebilir.</a:t>
            </a:r>
            <a:endParaRPr b="0" i="0" sz="11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16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DEĞERLENDIRME ARACI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SWOT örneği: sürücüsüz araba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Bir teknolojiyi dört pencereden incelemek, yalnızca avantajlarına değil risklerine de bakmamızı sağlar.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713232" y="1920240"/>
            <a:ext cx="5257800" cy="1508760"/>
          </a:xfrm>
          <a:prstGeom prst="roundRect">
            <a:avLst>
              <a:gd fmla="val 10909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987552" y="219456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GÜÇLÜ YÖNLER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987552" y="2651760"/>
            <a:ext cx="4709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Yorulmaz, dikkati dağılmaz; kuralları sürekli izleyebilir.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6217920" y="1920240"/>
            <a:ext cx="5257800" cy="1508760"/>
          </a:xfrm>
          <a:prstGeom prst="roundRect">
            <a:avLst>
              <a:gd fmla="val 10909" name="adj"/>
            </a:avLst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7"/>
          <p:cNvSpPr/>
          <p:nvPr/>
        </p:nvSpPr>
        <p:spPr>
          <a:xfrm>
            <a:off x="6492240" y="219456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123C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BE123C"/>
                </a:solidFill>
                <a:latin typeface="Inter"/>
                <a:ea typeface="Inter"/>
                <a:cs typeface="Inter"/>
                <a:sym typeface="Inter"/>
              </a:rPr>
              <a:t>ZAYIF YÖNLER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492240" y="2651760"/>
            <a:ext cx="4709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Pahalı olabilir; kar, sis ve bozuk yol gibi koşullarda zorlanabilir.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713232" y="3675888"/>
            <a:ext cx="5257800" cy="1508760"/>
          </a:xfrm>
          <a:prstGeom prst="roundRect">
            <a:avLst>
              <a:gd fmla="val 10909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987552" y="3950208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FIRSATLAR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987552" y="4407408"/>
            <a:ext cx="4709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Kazaları azaltma hedefi, yaşlı ve engelli bireylerin ulaşımını kolaylaştırma.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6217920" y="3675888"/>
            <a:ext cx="5257800" cy="1508760"/>
          </a:xfrm>
          <a:prstGeom prst="roundRect">
            <a:avLst>
              <a:gd fmla="val 10909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6492240" y="3950208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TEHDİTLER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6492240" y="4407408"/>
            <a:ext cx="4709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70"/>
              <a:buFont typeface="Inter"/>
              <a:buNone/>
            </a:pPr>
            <a:r>
              <a:rPr b="0" i="0" lang="en-US" sz="11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Bazı işlerin azalması, siber saldırı ve yazılım hatalarının güvenlik riski oluşturması.</a:t>
            </a:r>
            <a:endParaRPr b="0" i="0" sz="11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1463040" y="5596128"/>
            <a:ext cx="9281160" cy="566928"/>
          </a:xfrm>
          <a:prstGeom prst="roundRect">
            <a:avLst>
              <a:gd fmla="val 29032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1764792" y="5769864"/>
            <a:ext cx="8705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5B21B6"/>
                </a:solidFill>
                <a:latin typeface="Inter"/>
                <a:ea typeface="Inter"/>
                <a:cs typeface="Inter"/>
                <a:sym typeface="Inter"/>
              </a:rPr>
              <a:t>Bir sonraki sayfada aynı dört kutuyu “sanal gerçeklik gözlüğü” için sen dolduracaksın.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0" name="Google Shape;500;p17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ETKINLIK 1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Deftere yaz — boşluk doldurma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Cümleleri defterine yaz ve aşağıdaki kavram havuzundan uygun sözcüğü seç.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749808" y="1828800"/>
            <a:ext cx="10680192" cy="594360"/>
          </a:xfrm>
          <a:prstGeom prst="roundRect">
            <a:avLst>
              <a:gd fmla="val 27692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8"/>
          <p:cNvSpPr/>
          <p:nvPr/>
        </p:nvSpPr>
        <p:spPr>
          <a:xfrm>
            <a:off x="1051560" y="2020824"/>
            <a:ext cx="100584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Kavram havuzu:  Turing Testi  •  ENIAC  •  ARPANET  •  örüntü  •  kuantum  •  kişisel veri</a:t>
            </a:r>
            <a:endParaRPr b="0" i="0" sz="11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932688" y="2697480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Inter"/>
              <a:buNone/>
            </a:pPr>
            <a:r>
              <a:rPr b="0" i="0" lang="en-US" sz="121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1. İnternetin gelişiminde önemli bir adım olan ağ projesinin adı ____________’tir.</a:t>
            </a:r>
            <a:endParaRPr b="0" i="0" sz="12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12" name="Google Shape;512;p18"/>
          <p:cNvCxnSpPr/>
          <p:nvPr/>
        </p:nvCxnSpPr>
        <p:spPr>
          <a:xfrm>
            <a:off x="914400" y="3063240"/>
            <a:ext cx="101498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8"/>
          <p:cNvSpPr/>
          <p:nvPr/>
        </p:nvSpPr>
        <p:spPr>
          <a:xfrm>
            <a:off x="932688" y="3209544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Inter"/>
              <a:buNone/>
            </a:pPr>
            <a:r>
              <a:rPr b="0" i="0" lang="en-US" sz="121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2. 1940’larda oda büyüklüğünde çalışan erken elektronik bilgisayarlardan biri ____________’tır.</a:t>
            </a:r>
            <a:endParaRPr b="0" i="0" sz="12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14" name="Google Shape;514;p18"/>
          <p:cNvCxnSpPr/>
          <p:nvPr/>
        </p:nvCxnSpPr>
        <p:spPr>
          <a:xfrm>
            <a:off x="914400" y="3575304"/>
            <a:ext cx="101498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18"/>
          <p:cNvSpPr/>
          <p:nvPr/>
        </p:nvSpPr>
        <p:spPr>
          <a:xfrm>
            <a:off x="932688" y="372160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Inter"/>
              <a:buNone/>
            </a:pPr>
            <a:r>
              <a:rPr b="0" i="0" lang="en-US" sz="121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3. Bir değişimin tekrar eden yönüne ____________ denir.</a:t>
            </a:r>
            <a:endParaRPr b="0" i="0" sz="12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16" name="Google Shape;516;p18"/>
          <p:cNvCxnSpPr/>
          <p:nvPr/>
        </p:nvCxnSpPr>
        <p:spPr>
          <a:xfrm>
            <a:off x="914400" y="4087368"/>
            <a:ext cx="101498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18"/>
          <p:cNvSpPr/>
          <p:nvPr/>
        </p:nvSpPr>
        <p:spPr>
          <a:xfrm>
            <a:off x="932688" y="4233672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Inter"/>
              <a:buNone/>
            </a:pPr>
            <a:r>
              <a:rPr b="0" i="0" lang="en-US" sz="121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4. Bir makinenin insan benzeri iletişim kurup kuramadığını tartışan fikir ____________ olarak bilinir.</a:t>
            </a:r>
            <a:endParaRPr b="0" i="0" sz="12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18" name="Google Shape;518;p18"/>
          <p:cNvCxnSpPr/>
          <p:nvPr/>
        </p:nvCxnSpPr>
        <p:spPr>
          <a:xfrm>
            <a:off x="914400" y="4599432"/>
            <a:ext cx="101498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9" name="Google Shape;519;p18"/>
          <p:cNvSpPr/>
          <p:nvPr/>
        </p:nvSpPr>
        <p:spPr>
          <a:xfrm>
            <a:off x="932688" y="474573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Inter"/>
              <a:buNone/>
            </a:pPr>
            <a:r>
              <a:rPr b="0" i="0" lang="en-US" sz="121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5. Bazı özel problemlerde klasik bilgisayarlardan farklı çalışan bilgisayar türü ____________ bilgisayardır.</a:t>
            </a:r>
            <a:endParaRPr b="0" i="0" sz="12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20" name="Google Shape;520;p18"/>
          <p:cNvCxnSpPr/>
          <p:nvPr/>
        </p:nvCxnSpPr>
        <p:spPr>
          <a:xfrm>
            <a:off x="914400" y="5111496"/>
            <a:ext cx="101498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18"/>
          <p:cNvSpPr/>
          <p:nvPr/>
        </p:nvSpPr>
        <p:spPr>
          <a:xfrm>
            <a:off x="932688" y="5257800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Inter"/>
              <a:buNone/>
            </a:pPr>
            <a:r>
              <a:rPr b="0" i="0" lang="en-US" sz="121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6. Akıllı saatimizin topladığı nabız ve konum gibi bilgiler ____________ kapsamında değerlendirilebilir.</a:t>
            </a:r>
            <a:endParaRPr b="0" i="0" sz="12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22" name="Google Shape;522;p18"/>
          <p:cNvCxnSpPr/>
          <p:nvPr/>
        </p:nvCxnSpPr>
        <p:spPr>
          <a:xfrm>
            <a:off x="914400" y="5623560"/>
            <a:ext cx="101498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18"/>
          <p:cNvSpPr/>
          <p:nvPr/>
        </p:nvSpPr>
        <p:spPr>
          <a:xfrm>
            <a:off x="914400" y="5989320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60"/>
              <a:buFont typeface="Inter"/>
              <a:buNone/>
            </a:pPr>
            <a:r>
              <a:rPr b="0" i="1" lang="en-US" sz="106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Not: Cevaplarını yalnızca kelime olarak değil, cümle içinde yazarak tamamla.</a:t>
            </a:r>
            <a:endParaRPr b="0" i="0" sz="10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18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ETKINLIK 2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Deftere yaz — eşleştirme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Soldaki kavramları sağdaki açıklamalarla eşleştir. Defterine örnekteki gibi “1–D” biçiminde yaz.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713232" y="1847088"/>
            <a:ext cx="4983480" cy="393192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5989320" y="1847088"/>
            <a:ext cx="5440680" cy="393192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9"/>
          <p:cNvSpPr/>
          <p:nvPr/>
        </p:nvSpPr>
        <p:spPr>
          <a:xfrm>
            <a:off x="987552" y="214884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KAVRAMLAR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281928" y="21488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AÇIKLAMALAR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987552" y="262432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9"/>
          <p:cNvSpPr/>
          <p:nvPr/>
        </p:nvSpPr>
        <p:spPr>
          <a:xfrm>
            <a:off x="1024128" y="267919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1527048" y="2596896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1. Turing Makinesi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987552" y="317296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1024128" y="322783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1527048" y="3145536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2. Transistör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987552" y="372160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1024128" y="37764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1527048" y="3694176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3. SWOT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987552" y="427024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1024128" y="432511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1527048" y="4242816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4. 5G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987552" y="481888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1024128" y="487375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1527048" y="4791456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5. Varsayım</a:t>
            </a:r>
            <a:endParaRPr b="0" i="0" sz="12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6281928" y="262432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9"/>
          <p:cNvSpPr/>
          <p:nvPr/>
        </p:nvSpPr>
        <p:spPr>
          <a:xfrm>
            <a:off x="6318504" y="267919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6812280" y="256946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A. Bir teknolojiyi güçlü–zayıf yön, fırsat ve tehditleriyle inceleme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6281928" y="317296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9"/>
          <p:cNvSpPr/>
          <p:nvPr/>
        </p:nvSpPr>
        <p:spPr>
          <a:xfrm>
            <a:off x="6318504" y="322783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6812280" y="311810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B. Gelecek için kesin olmayan, gerekçeli öngörü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6281928" y="372160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9"/>
          <p:cNvSpPr/>
          <p:nvPr/>
        </p:nvSpPr>
        <p:spPr>
          <a:xfrm>
            <a:off x="6318504" y="377647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6812280" y="366674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C. Hesaplamayı kurallarla açıklayan kuramsal model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6281928" y="427024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9"/>
          <p:cNvSpPr/>
          <p:nvPr/>
        </p:nvSpPr>
        <p:spPr>
          <a:xfrm>
            <a:off x="6318504" y="432511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6812280" y="421538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D. Elektronik cihazların küçülmesine ve verimliliğine katkı sağlayan bileşen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6281928" y="4818888"/>
            <a:ext cx="384048" cy="310896"/>
          </a:xfrm>
          <a:prstGeom prst="roundRect">
            <a:avLst>
              <a:gd fmla="val 3529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9"/>
          <p:cNvSpPr/>
          <p:nvPr/>
        </p:nvSpPr>
        <p:spPr>
          <a:xfrm>
            <a:off x="6318504" y="4873752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6812280" y="476402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E. Yüksek hızlı mobil bağlantı teknolojilerinden biri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7" name="Google Shape;567;p19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ETKINLIK 3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Deftere yaz — tabloyu tamamla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Aşağıdaki tabloyu defterine çiz. “Yarın” sütununu örüntüye dayanarak sen doldur.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822960" y="1828800"/>
            <a:ext cx="2075688" cy="502920"/>
          </a:xfrm>
          <a:prstGeom prst="roundRect">
            <a:avLst>
              <a:gd fmla="val 14545" name="adj"/>
            </a:avLst>
          </a:prstGeom>
          <a:solidFill>
            <a:srgbClr val="E2E8F0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0"/>
          <p:cNvSpPr/>
          <p:nvPr/>
        </p:nvSpPr>
        <p:spPr>
          <a:xfrm>
            <a:off x="914400" y="1965960"/>
            <a:ext cx="1892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Inter"/>
              <a:buNone/>
            </a:pPr>
            <a:r>
              <a:rPr b="1" i="0" lang="en-US" sz="10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ALAN</a:t>
            </a:r>
            <a:endParaRPr b="0" i="0" sz="10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2971800" y="1828800"/>
            <a:ext cx="2852928" cy="502920"/>
          </a:xfrm>
          <a:prstGeom prst="roundRect">
            <a:avLst>
              <a:gd fmla="val 14545" name="adj"/>
            </a:avLst>
          </a:prstGeom>
          <a:solidFill>
            <a:srgbClr val="E2E8F0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3063240" y="1965960"/>
            <a:ext cx="2670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Inter"/>
              <a:buNone/>
            </a:pPr>
            <a:r>
              <a:rPr b="1" i="0" lang="en-US" sz="10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DÜN</a:t>
            </a:r>
            <a:endParaRPr b="0" i="0" sz="10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5897880" y="1828800"/>
            <a:ext cx="2852928" cy="502920"/>
          </a:xfrm>
          <a:prstGeom prst="roundRect">
            <a:avLst>
              <a:gd fmla="val 14545" name="adj"/>
            </a:avLst>
          </a:prstGeom>
          <a:solidFill>
            <a:srgbClr val="E2E8F0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5989320" y="1965960"/>
            <a:ext cx="2670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Inter"/>
              <a:buNone/>
            </a:pPr>
            <a:r>
              <a:rPr b="1" i="0" lang="en-US" sz="102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BUGÜN</a:t>
            </a:r>
            <a:endParaRPr b="0" i="0" sz="10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8823960" y="1828800"/>
            <a:ext cx="2807208" cy="502920"/>
          </a:xfrm>
          <a:prstGeom prst="roundRect">
            <a:avLst>
              <a:gd fmla="val 14545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0"/>
          <p:cNvSpPr/>
          <p:nvPr/>
        </p:nvSpPr>
        <p:spPr>
          <a:xfrm>
            <a:off x="8915400" y="1965960"/>
            <a:ext cx="2624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Inter"/>
              <a:buNone/>
            </a:pPr>
            <a:r>
              <a:rPr b="1" i="0" lang="en-US" sz="10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YARIN — SENİN VARSAYIMIN</a:t>
            </a:r>
            <a:endParaRPr b="0" i="0" sz="10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822960" y="2487168"/>
            <a:ext cx="207568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932688" y="2596896"/>
            <a:ext cx="1856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Eğitim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2971800" y="2487168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3081528" y="2596896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Basılı kitap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5897880" y="2487168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6007608" y="2596896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Akıllı tahta / çevrim içi ders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8823960" y="2487168"/>
            <a:ext cx="2807208" cy="585216"/>
          </a:xfrm>
          <a:prstGeom prst="roundRect">
            <a:avLst>
              <a:gd fmla="val 12500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1" name="Google Shape;591;p20"/>
          <p:cNvCxnSpPr/>
          <p:nvPr/>
        </p:nvCxnSpPr>
        <p:spPr>
          <a:xfrm>
            <a:off x="9144000" y="2834640"/>
            <a:ext cx="2167128" cy="0"/>
          </a:xfrm>
          <a:prstGeom prst="straightConnector1">
            <a:avLst/>
          </a:prstGeom>
          <a:noFill/>
          <a:ln cap="flat" cmpd="sng" w="152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20"/>
          <p:cNvSpPr/>
          <p:nvPr/>
        </p:nvSpPr>
        <p:spPr>
          <a:xfrm>
            <a:off x="822960" y="3200400"/>
            <a:ext cx="207568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932688" y="3310128"/>
            <a:ext cx="1856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İletişim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2971800" y="3200400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3081528" y="331012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Sabit telefon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5897880" y="3200400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0"/>
          <p:cNvSpPr/>
          <p:nvPr/>
        </p:nvSpPr>
        <p:spPr>
          <a:xfrm>
            <a:off x="6007608" y="331012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Görüntülü görüşme / anlık mesaj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8823960" y="3200400"/>
            <a:ext cx="2807208" cy="585216"/>
          </a:xfrm>
          <a:prstGeom prst="roundRect">
            <a:avLst>
              <a:gd fmla="val 12500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9" name="Google Shape;599;p20"/>
          <p:cNvCxnSpPr/>
          <p:nvPr/>
        </p:nvCxnSpPr>
        <p:spPr>
          <a:xfrm>
            <a:off x="9144000" y="3547872"/>
            <a:ext cx="2167128" cy="0"/>
          </a:xfrm>
          <a:prstGeom prst="straightConnector1">
            <a:avLst/>
          </a:prstGeom>
          <a:noFill/>
          <a:ln cap="flat" cmpd="sng" w="152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20"/>
          <p:cNvSpPr/>
          <p:nvPr/>
        </p:nvSpPr>
        <p:spPr>
          <a:xfrm>
            <a:off x="822960" y="3913632"/>
            <a:ext cx="207568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0"/>
          <p:cNvSpPr/>
          <p:nvPr/>
        </p:nvSpPr>
        <p:spPr>
          <a:xfrm>
            <a:off x="932688" y="4023360"/>
            <a:ext cx="1856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Ulaşım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2971800" y="3913632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0"/>
          <p:cNvSpPr/>
          <p:nvPr/>
        </p:nvSpPr>
        <p:spPr>
          <a:xfrm>
            <a:off x="3081528" y="4023360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Kâğıt harita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5897880" y="3913632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0"/>
          <p:cNvSpPr/>
          <p:nvPr/>
        </p:nvSpPr>
        <p:spPr>
          <a:xfrm>
            <a:off x="6007608" y="4023360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Navigasyon / sürücü desteği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8823960" y="3913632"/>
            <a:ext cx="2807208" cy="585216"/>
          </a:xfrm>
          <a:prstGeom prst="roundRect">
            <a:avLst>
              <a:gd fmla="val 12500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7" name="Google Shape;607;p20"/>
          <p:cNvCxnSpPr/>
          <p:nvPr/>
        </p:nvCxnSpPr>
        <p:spPr>
          <a:xfrm>
            <a:off x="9144000" y="4261104"/>
            <a:ext cx="2167128" cy="0"/>
          </a:xfrm>
          <a:prstGeom prst="straightConnector1">
            <a:avLst/>
          </a:prstGeom>
          <a:noFill/>
          <a:ln cap="flat" cmpd="sng" w="152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20"/>
          <p:cNvSpPr/>
          <p:nvPr/>
        </p:nvSpPr>
        <p:spPr>
          <a:xfrm>
            <a:off x="822960" y="4626864"/>
            <a:ext cx="207568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0"/>
          <p:cNvSpPr/>
          <p:nvPr/>
        </p:nvSpPr>
        <p:spPr>
          <a:xfrm>
            <a:off x="932688" y="4736592"/>
            <a:ext cx="18562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1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Ev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2971800" y="4626864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0"/>
          <p:cNvSpPr/>
          <p:nvPr/>
        </p:nvSpPr>
        <p:spPr>
          <a:xfrm>
            <a:off x="3081528" y="4736592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Her cihaz ayrı kontrol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5897880" y="4626864"/>
            <a:ext cx="2852928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0"/>
          <p:cNvSpPr/>
          <p:nvPr/>
        </p:nvSpPr>
        <p:spPr>
          <a:xfrm>
            <a:off x="6007608" y="4736592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Inter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Sesle / telefondan kontrol</a:t>
            </a:r>
            <a:endParaRPr b="0" i="0" sz="11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8823960" y="4626864"/>
            <a:ext cx="2807208" cy="585216"/>
          </a:xfrm>
          <a:prstGeom prst="roundRect">
            <a:avLst>
              <a:gd fmla="val 12500" name="adj"/>
            </a:avLst>
          </a:prstGeom>
          <a:solidFill>
            <a:srgbClr val="F5F3FF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5" name="Google Shape;615;p20"/>
          <p:cNvCxnSpPr/>
          <p:nvPr/>
        </p:nvCxnSpPr>
        <p:spPr>
          <a:xfrm>
            <a:off x="9144000" y="4974336"/>
            <a:ext cx="2167128" cy="0"/>
          </a:xfrm>
          <a:prstGeom prst="straightConnector1">
            <a:avLst/>
          </a:prstGeom>
          <a:noFill/>
          <a:ln cap="flat" cmpd="sng" w="152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20"/>
          <p:cNvSpPr/>
          <p:nvPr/>
        </p:nvSpPr>
        <p:spPr>
          <a:xfrm>
            <a:off x="1444752" y="5532120"/>
            <a:ext cx="9281160" cy="594360"/>
          </a:xfrm>
          <a:prstGeom prst="roundRect">
            <a:avLst>
              <a:gd fmla="val 27692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0"/>
          <p:cNvSpPr/>
          <p:nvPr/>
        </p:nvSpPr>
        <p:spPr>
          <a:xfrm>
            <a:off x="1700784" y="5705856"/>
            <a:ext cx="8778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Kural: “Yarın” sütununda fantastik bir fikir yazabilirsin; ancak bugünkü gelişim yönüyle bağlantısını 1 cümleyle açıklamalısın.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8" name="Google Shape;618;p20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1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ETKINLIK 4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Deftere yaz — kendi SWOT’unu oluştur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Konu: Sanal gerçeklik (VR) gözlüğü. Her kutuya en az 2 madde yaz.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749808" y="1874520"/>
            <a:ext cx="5212080" cy="1572768"/>
          </a:xfrm>
          <a:prstGeom prst="roundRect">
            <a:avLst>
              <a:gd fmla="val 10465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1"/>
          <p:cNvSpPr/>
          <p:nvPr/>
        </p:nvSpPr>
        <p:spPr>
          <a:xfrm>
            <a:off x="1024128" y="212140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GÜÇLÜ YÖNLER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1024128" y="2532888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Örnek düşünce: Öğrenmeyi görselleştirebilir.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0" name="Google Shape;630;p21"/>
          <p:cNvCxnSpPr/>
          <p:nvPr/>
        </p:nvCxnSpPr>
        <p:spPr>
          <a:xfrm>
            <a:off x="1133856" y="3017520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21"/>
          <p:cNvCxnSpPr/>
          <p:nvPr/>
        </p:nvCxnSpPr>
        <p:spPr>
          <a:xfrm>
            <a:off x="1133856" y="3246120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2" name="Google Shape;632;p21"/>
          <p:cNvSpPr/>
          <p:nvPr/>
        </p:nvSpPr>
        <p:spPr>
          <a:xfrm>
            <a:off x="6236208" y="1874520"/>
            <a:ext cx="5212080" cy="1572768"/>
          </a:xfrm>
          <a:prstGeom prst="roundRect">
            <a:avLst>
              <a:gd fmla="val 10465" name="adj"/>
            </a:avLst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1"/>
          <p:cNvSpPr/>
          <p:nvPr/>
        </p:nvSpPr>
        <p:spPr>
          <a:xfrm>
            <a:off x="6510528" y="212140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123C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BE123C"/>
                </a:solidFill>
                <a:latin typeface="Inter"/>
                <a:ea typeface="Inter"/>
                <a:cs typeface="Inter"/>
                <a:sym typeface="Inter"/>
              </a:rPr>
              <a:t>ZAYIF YÖNLER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6510528" y="2532888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Örnek düşünce: Uzun kullanım rahatsız edebilir.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5" name="Google Shape;635;p21"/>
          <p:cNvCxnSpPr/>
          <p:nvPr/>
        </p:nvCxnSpPr>
        <p:spPr>
          <a:xfrm>
            <a:off x="6620256" y="3017520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21"/>
          <p:cNvCxnSpPr/>
          <p:nvPr/>
        </p:nvCxnSpPr>
        <p:spPr>
          <a:xfrm>
            <a:off x="6620256" y="3246120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p21"/>
          <p:cNvSpPr/>
          <p:nvPr/>
        </p:nvSpPr>
        <p:spPr>
          <a:xfrm>
            <a:off x="749808" y="3721608"/>
            <a:ext cx="5212080" cy="1572768"/>
          </a:xfrm>
          <a:prstGeom prst="roundRect">
            <a:avLst>
              <a:gd fmla="val 10465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1024128" y="3968496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FIRSATLAR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1024128" y="4379976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Örnek düşünce: Tehlikeli deneyler güvenle simüle edilebilir.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0" name="Google Shape;640;p21"/>
          <p:cNvCxnSpPr/>
          <p:nvPr/>
        </p:nvCxnSpPr>
        <p:spPr>
          <a:xfrm>
            <a:off x="1133856" y="4864608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21"/>
          <p:cNvCxnSpPr/>
          <p:nvPr/>
        </p:nvCxnSpPr>
        <p:spPr>
          <a:xfrm>
            <a:off x="1133856" y="5093208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21"/>
          <p:cNvSpPr/>
          <p:nvPr/>
        </p:nvSpPr>
        <p:spPr>
          <a:xfrm>
            <a:off x="6236208" y="3721608"/>
            <a:ext cx="5212080" cy="1572768"/>
          </a:xfrm>
          <a:prstGeom prst="roundRect">
            <a:avLst>
              <a:gd fmla="val 10465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1"/>
          <p:cNvSpPr/>
          <p:nvPr/>
        </p:nvSpPr>
        <p:spPr>
          <a:xfrm>
            <a:off x="6510528" y="3968496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TEHDİTLER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6510528" y="4379976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70"/>
              <a:buFont typeface="Inter"/>
              <a:buNone/>
            </a:pPr>
            <a:r>
              <a:rPr b="0" i="0" lang="en-US" sz="107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Örnek düşünce: Her öğrencinin cihaza erişimi olmayabilir.</a:t>
            </a:r>
            <a:endParaRPr b="0" i="0" sz="10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5" name="Google Shape;645;p21"/>
          <p:cNvCxnSpPr/>
          <p:nvPr/>
        </p:nvCxnSpPr>
        <p:spPr>
          <a:xfrm>
            <a:off x="6620256" y="4864608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21"/>
          <p:cNvCxnSpPr/>
          <p:nvPr/>
        </p:nvCxnSpPr>
        <p:spPr>
          <a:xfrm>
            <a:off x="6620256" y="5093208"/>
            <a:ext cx="4443984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p21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2"/>
          <p:cNvSpPr/>
          <p:nvPr/>
        </p:nvSpPr>
        <p:spPr>
          <a:xfrm>
            <a:off x="566928" y="40233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ÖZET VE ÇIKIŞ BILETI</a:t>
            </a:r>
            <a:endParaRPr b="0" i="0" sz="10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566928" y="73152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Bu derste ne öğrendik?</a:t>
            </a:r>
            <a:endParaRPr b="0"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566928" y="13258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Teknoloji tarihini bilmek, geleceğe dair daha sağlam varsayımlar kurmamıza yardımcı olur.</a:t>
            </a:r>
            <a:endParaRPr b="0" i="0" sz="12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777240" y="1856232"/>
            <a:ext cx="411480" cy="310896"/>
          </a:xfrm>
          <a:prstGeom prst="roundRect">
            <a:avLst>
              <a:gd fmla="val 35294" name="adj"/>
            </a:avLst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2"/>
          <p:cNvSpPr/>
          <p:nvPr/>
        </p:nvSpPr>
        <p:spPr>
          <a:xfrm>
            <a:off x="813816" y="1911096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1389888" y="1837944"/>
            <a:ext cx="9921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Inter"/>
              <a:buNone/>
            </a:pPr>
            <a:r>
              <a:rPr b="0" i="0" lang="en-US" sz="12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Bilgisayarlar zamanla küçüldü, hızlandı, bağlandı ve daha yaygın hâle geldi.</a:t>
            </a:r>
            <a:endParaRPr b="0" i="0" sz="12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777240" y="2478024"/>
            <a:ext cx="411480" cy="310896"/>
          </a:xfrm>
          <a:prstGeom prst="roundRect">
            <a:avLst>
              <a:gd fmla="val 3529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2"/>
          <p:cNvSpPr/>
          <p:nvPr/>
        </p:nvSpPr>
        <p:spPr>
          <a:xfrm>
            <a:off x="813816" y="2532888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1389888" y="2459736"/>
            <a:ext cx="9921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Inter"/>
              <a:buNone/>
            </a:pPr>
            <a:r>
              <a:rPr b="0" i="0" lang="en-US" sz="12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Alan Turing, hesaplama ve makine zekâsı tartışmalarına temel oluşturan önemli fikirler geliştirdi.</a:t>
            </a:r>
            <a:endParaRPr b="0" i="0" sz="12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777240" y="3099816"/>
            <a:ext cx="411480" cy="310896"/>
          </a:xfrm>
          <a:prstGeom prst="roundRect">
            <a:avLst>
              <a:gd fmla="val 35294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2"/>
          <p:cNvSpPr/>
          <p:nvPr/>
        </p:nvSpPr>
        <p:spPr>
          <a:xfrm>
            <a:off x="813816" y="3154680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1389888" y="3081528"/>
            <a:ext cx="9921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Örüntü, tekrar eden yönü gösterir; varsayım ise bu yönü geleceğe taşıyan gerekçeli tahmindir.</a:t>
            </a:r>
            <a:endParaRPr b="0" i="0" sz="12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777240" y="3721608"/>
            <a:ext cx="411480" cy="310896"/>
          </a:xfrm>
          <a:prstGeom prst="roundRect">
            <a:avLst>
              <a:gd fmla="val 3529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2"/>
          <p:cNvSpPr/>
          <p:nvPr/>
        </p:nvSpPr>
        <p:spPr>
          <a:xfrm>
            <a:off x="813816" y="3776472"/>
            <a:ext cx="338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1389888" y="3703320"/>
            <a:ext cx="9921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Inter"/>
              <a:buNone/>
            </a:pPr>
            <a:r>
              <a:rPr b="0" i="0" lang="en-US" sz="124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Her teknolojinin toplum, çevre ve meslekler üzerinde hem yararları hem de dikkat edilmesi gereken etkileri olabilir.</a:t>
            </a:r>
            <a:endParaRPr b="0" i="0" sz="12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777240" y="4590288"/>
            <a:ext cx="10652760" cy="1325880"/>
          </a:xfrm>
          <a:prstGeom prst="roundRect">
            <a:avLst>
              <a:gd fmla="val 12414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2"/>
          <p:cNvSpPr/>
          <p:nvPr/>
        </p:nvSpPr>
        <p:spPr>
          <a:xfrm>
            <a:off x="1051560" y="4846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7E8F9"/>
                </a:solidFill>
                <a:latin typeface="Inter"/>
                <a:ea typeface="Inter"/>
                <a:cs typeface="Inter"/>
                <a:sym typeface="Inter"/>
              </a:rPr>
              <a:t>ÇIKIŞ BİLETİ — deftere 3 kısa cevap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1051560" y="5239512"/>
            <a:ext cx="9784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Inter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A) Bugün öğrendiğin en şaşırtıcı bilgi neydi?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Inter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B) Teknolojide gördüğün bir örüntü yaz.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20"/>
              <a:buFont typeface="Inter"/>
              <a:buNone/>
            </a:pPr>
            <a:r>
              <a:rPr b="0" i="0" lang="en-US" sz="112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C) Bu örüntüye dayanarak geleceğe dair 1 varsayım üret.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1" name="Google Shape;671;p22"/>
          <p:cNvSpPr txBox="1"/>
          <p:nvPr>
            <p:ph idx="4294967295" type="sldNum"/>
          </p:nvPr>
        </p:nvSpPr>
        <p:spPr>
          <a:xfrm>
            <a:off x="11750040" y="6547104"/>
            <a:ext cx="237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3"/>
          <p:cNvSpPr/>
          <p:nvPr/>
        </p:nvSpPr>
        <p:spPr>
          <a:xfrm>
            <a:off x="640074" y="411475"/>
            <a:ext cx="2581800" cy="4572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9525">
            <a:solidFill>
              <a:srgbClr val="EEF2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Google Shape;678;p23"/>
          <p:cNvSpPr txBox="1"/>
          <p:nvPr/>
        </p:nvSpPr>
        <p:spPr>
          <a:xfrm>
            <a:off x="822947" y="493775"/>
            <a:ext cx="233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CEVAP ANAHTARI</a:t>
            </a:r>
            <a:endParaRPr/>
          </a:p>
        </p:txBody>
      </p:sp>
      <p:sp>
        <p:nvSpPr>
          <p:cNvPr id="679" name="Google Shape;679;p23"/>
          <p:cNvSpPr txBox="1"/>
          <p:nvPr/>
        </p:nvSpPr>
        <p:spPr>
          <a:xfrm>
            <a:off x="640080" y="97840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Etkinlik 1 ve Etkinlik 2</a:t>
            </a:r>
            <a:endParaRPr/>
          </a:p>
        </p:txBody>
      </p:sp>
      <p:sp>
        <p:nvSpPr>
          <p:cNvPr id="680" name="Google Shape;680;p23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Kesin cevaplı sorular</a:t>
            </a:r>
            <a:endParaRPr/>
          </a:p>
        </p:txBody>
      </p:sp>
      <p:sp>
        <p:nvSpPr>
          <p:cNvPr id="681" name="Google Shape;681;p23"/>
          <p:cNvSpPr/>
          <p:nvPr/>
        </p:nvSpPr>
        <p:spPr>
          <a:xfrm>
            <a:off x="640080" y="2011680"/>
            <a:ext cx="5440800" cy="4069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23"/>
          <p:cNvSpPr txBox="1"/>
          <p:nvPr/>
        </p:nvSpPr>
        <p:spPr>
          <a:xfrm>
            <a:off x="914400" y="2267712"/>
            <a:ext cx="489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Etkinlik 1 — Boşluk Doldurma</a:t>
            </a:r>
            <a:endParaRPr/>
          </a:p>
        </p:txBody>
      </p:sp>
      <p:sp>
        <p:nvSpPr>
          <p:cNvPr id="683" name="Google Shape;683;p23"/>
          <p:cNvSpPr/>
          <p:nvPr/>
        </p:nvSpPr>
        <p:spPr>
          <a:xfrm>
            <a:off x="914400" y="2743200"/>
            <a:ext cx="4800600" cy="42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23"/>
          <p:cNvSpPr txBox="1"/>
          <p:nvPr/>
        </p:nvSpPr>
        <p:spPr>
          <a:xfrm>
            <a:off x="1069848" y="2816352"/>
            <a:ext cx="4480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ARPANET</a:t>
            </a:r>
            <a:endParaRPr/>
          </a:p>
        </p:txBody>
      </p:sp>
      <p:sp>
        <p:nvSpPr>
          <p:cNvPr id="685" name="Google Shape;685;p23"/>
          <p:cNvSpPr/>
          <p:nvPr/>
        </p:nvSpPr>
        <p:spPr>
          <a:xfrm>
            <a:off x="914400" y="3255264"/>
            <a:ext cx="4800600" cy="42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Google Shape;686;p23"/>
          <p:cNvSpPr txBox="1"/>
          <p:nvPr/>
        </p:nvSpPr>
        <p:spPr>
          <a:xfrm>
            <a:off x="1069848" y="3328416"/>
            <a:ext cx="4480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ENIAC</a:t>
            </a:r>
            <a:endParaRPr/>
          </a:p>
        </p:txBody>
      </p:sp>
      <p:sp>
        <p:nvSpPr>
          <p:cNvPr id="687" name="Google Shape;687;p23"/>
          <p:cNvSpPr/>
          <p:nvPr/>
        </p:nvSpPr>
        <p:spPr>
          <a:xfrm>
            <a:off x="914400" y="3767328"/>
            <a:ext cx="4800600" cy="42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Google Shape;688;p23"/>
          <p:cNvSpPr txBox="1"/>
          <p:nvPr/>
        </p:nvSpPr>
        <p:spPr>
          <a:xfrm>
            <a:off x="1069848" y="3840480"/>
            <a:ext cx="4480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örüntü</a:t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>
            <a:off x="914400" y="4279392"/>
            <a:ext cx="4800600" cy="42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23"/>
          <p:cNvSpPr txBox="1"/>
          <p:nvPr/>
        </p:nvSpPr>
        <p:spPr>
          <a:xfrm>
            <a:off x="1069848" y="4352544"/>
            <a:ext cx="4480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4. Turing Testi</a:t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>
            <a:off x="914400" y="4791456"/>
            <a:ext cx="4800600" cy="42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2" name="Google Shape;692;p23"/>
          <p:cNvSpPr txBox="1"/>
          <p:nvPr/>
        </p:nvSpPr>
        <p:spPr>
          <a:xfrm>
            <a:off x="1069848" y="4864608"/>
            <a:ext cx="4480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5. kuantum</a:t>
            </a:r>
            <a:endParaRPr/>
          </a:p>
        </p:txBody>
      </p:sp>
      <p:sp>
        <p:nvSpPr>
          <p:cNvPr id="693" name="Google Shape;693;p23"/>
          <p:cNvSpPr/>
          <p:nvPr/>
        </p:nvSpPr>
        <p:spPr>
          <a:xfrm>
            <a:off x="914400" y="5303520"/>
            <a:ext cx="4800600" cy="42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4" name="Google Shape;694;p23"/>
          <p:cNvSpPr txBox="1"/>
          <p:nvPr/>
        </p:nvSpPr>
        <p:spPr>
          <a:xfrm>
            <a:off x="1069848" y="5376672"/>
            <a:ext cx="4480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6. kişisel veri</a:t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6309360" y="2011680"/>
            <a:ext cx="5257800" cy="4069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6" name="Google Shape;696;p23"/>
          <p:cNvSpPr txBox="1"/>
          <p:nvPr/>
        </p:nvSpPr>
        <p:spPr>
          <a:xfrm>
            <a:off x="6583680" y="2267712"/>
            <a:ext cx="466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Etkinlik 2 — Eşleştirme</a:t>
            </a:r>
            <a:endParaRPr/>
          </a:p>
        </p:txBody>
      </p:sp>
      <p:sp>
        <p:nvSpPr>
          <p:cNvPr id="697" name="Google Shape;697;p23"/>
          <p:cNvSpPr/>
          <p:nvPr/>
        </p:nvSpPr>
        <p:spPr>
          <a:xfrm>
            <a:off x="6583680" y="2743200"/>
            <a:ext cx="4617600" cy="4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8" name="Google Shape;698;p23"/>
          <p:cNvSpPr txBox="1"/>
          <p:nvPr/>
        </p:nvSpPr>
        <p:spPr>
          <a:xfrm>
            <a:off x="6720840" y="2825496"/>
            <a:ext cx="429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 – C   Turing Makinesi</a:t>
            </a:r>
            <a:endParaRPr/>
          </a:p>
        </p:txBody>
      </p:sp>
      <p:sp>
        <p:nvSpPr>
          <p:cNvPr id="699" name="Google Shape;699;p23"/>
          <p:cNvSpPr/>
          <p:nvPr/>
        </p:nvSpPr>
        <p:spPr>
          <a:xfrm>
            <a:off x="6583680" y="3355848"/>
            <a:ext cx="4617600" cy="4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23"/>
          <p:cNvSpPr txBox="1"/>
          <p:nvPr/>
        </p:nvSpPr>
        <p:spPr>
          <a:xfrm>
            <a:off x="6720840" y="3438144"/>
            <a:ext cx="429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 – D   Transistör</a:t>
            </a:r>
            <a:endParaRPr/>
          </a:p>
        </p:txBody>
      </p:sp>
      <p:sp>
        <p:nvSpPr>
          <p:cNvPr id="701" name="Google Shape;701;p23"/>
          <p:cNvSpPr/>
          <p:nvPr/>
        </p:nvSpPr>
        <p:spPr>
          <a:xfrm>
            <a:off x="6583680" y="3968496"/>
            <a:ext cx="4617600" cy="4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2" name="Google Shape;702;p23"/>
          <p:cNvSpPr txBox="1"/>
          <p:nvPr/>
        </p:nvSpPr>
        <p:spPr>
          <a:xfrm>
            <a:off x="6720840" y="4050791"/>
            <a:ext cx="429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 – A   SWOT</a:t>
            </a:r>
            <a:endParaRPr/>
          </a:p>
        </p:txBody>
      </p:sp>
      <p:sp>
        <p:nvSpPr>
          <p:cNvPr id="703" name="Google Shape;703;p23"/>
          <p:cNvSpPr/>
          <p:nvPr/>
        </p:nvSpPr>
        <p:spPr>
          <a:xfrm>
            <a:off x="6583680" y="4581144"/>
            <a:ext cx="4617600" cy="4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4" name="Google Shape;704;p23"/>
          <p:cNvSpPr txBox="1"/>
          <p:nvPr/>
        </p:nvSpPr>
        <p:spPr>
          <a:xfrm>
            <a:off x="6720840" y="4663440"/>
            <a:ext cx="429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 – E   5G</a:t>
            </a:r>
            <a:endParaRPr/>
          </a:p>
        </p:txBody>
      </p:sp>
      <p:sp>
        <p:nvSpPr>
          <p:cNvPr id="705" name="Google Shape;705;p23"/>
          <p:cNvSpPr/>
          <p:nvPr/>
        </p:nvSpPr>
        <p:spPr>
          <a:xfrm>
            <a:off x="6583680" y="5193792"/>
            <a:ext cx="4617600" cy="49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6" name="Google Shape;706;p23"/>
          <p:cNvSpPr txBox="1"/>
          <p:nvPr/>
        </p:nvSpPr>
        <p:spPr>
          <a:xfrm>
            <a:off x="6720840" y="5276088"/>
            <a:ext cx="4297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 – B   Varsayım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4"/>
          <p:cNvSpPr txBox="1"/>
          <p:nvPr/>
        </p:nvSpPr>
        <p:spPr>
          <a:xfrm>
            <a:off x="640080" y="97840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Etkinlik 3 — Tablo için örnek cevaplar</a:t>
            </a:r>
            <a:endParaRPr/>
          </a:p>
        </p:txBody>
      </p:sp>
      <p:sp>
        <p:nvSpPr>
          <p:cNvPr id="713" name="Google Shape;713;p24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Öğrencinin gerekçeli farklı cevapları da kabul edilebilir.</a:t>
            </a:r>
            <a:endParaRPr/>
          </a:p>
        </p:txBody>
      </p:sp>
      <p:sp>
        <p:nvSpPr>
          <p:cNvPr id="714" name="Google Shape;714;p24"/>
          <p:cNvSpPr/>
          <p:nvPr/>
        </p:nvSpPr>
        <p:spPr>
          <a:xfrm>
            <a:off x="640080" y="2103120"/>
            <a:ext cx="2148900" cy="530400"/>
          </a:xfrm>
          <a:prstGeom prst="rect">
            <a:avLst/>
          </a:prstGeom>
          <a:solidFill>
            <a:srgbClr val="EEF2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5" name="Google Shape;715;p24"/>
          <p:cNvSpPr txBox="1"/>
          <p:nvPr/>
        </p:nvSpPr>
        <p:spPr>
          <a:xfrm>
            <a:off x="749808" y="2249424"/>
            <a:ext cx="1929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ALAN</a:t>
            </a:r>
            <a:endParaRPr/>
          </a:p>
        </p:txBody>
      </p:sp>
      <p:sp>
        <p:nvSpPr>
          <p:cNvPr id="716" name="Google Shape;716;p24"/>
          <p:cNvSpPr/>
          <p:nvPr/>
        </p:nvSpPr>
        <p:spPr>
          <a:xfrm>
            <a:off x="2971800" y="2103120"/>
            <a:ext cx="2423100" cy="530400"/>
          </a:xfrm>
          <a:prstGeom prst="rect">
            <a:avLst/>
          </a:prstGeom>
          <a:solidFill>
            <a:srgbClr val="EEF2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7" name="Google Shape;717;p24"/>
          <p:cNvSpPr txBox="1"/>
          <p:nvPr/>
        </p:nvSpPr>
        <p:spPr>
          <a:xfrm>
            <a:off x="3081528" y="2249424"/>
            <a:ext cx="2203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DÜN</a:t>
            </a:r>
            <a:endParaRPr/>
          </a:p>
        </p:txBody>
      </p:sp>
      <p:sp>
        <p:nvSpPr>
          <p:cNvPr id="718" name="Google Shape;718;p24"/>
          <p:cNvSpPr/>
          <p:nvPr/>
        </p:nvSpPr>
        <p:spPr>
          <a:xfrm>
            <a:off x="5577840" y="2103120"/>
            <a:ext cx="2514600" cy="530400"/>
          </a:xfrm>
          <a:prstGeom prst="rect">
            <a:avLst/>
          </a:prstGeom>
          <a:solidFill>
            <a:srgbClr val="EEF2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9" name="Google Shape;719;p24"/>
          <p:cNvSpPr txBox="1"/>
          <p:nvPr/>
        </p:nvSpPr>
        <p:spPr>
          <a:xfrm>
            <a:off x="5687568" y="2249424"/>
            <a:ext cx="22950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BUGÜN</a:t>
            </a:r>
            <a:endParaRPr/>
          </a:p>
        </p:txBody>
      </p:sp>
      <p:sp>
        <p:nvSpPr>
          <p:cNvPr id="720" name="Google Shape;720;p24"/>
          <p:cNvSpPr/>
          <p:nvPr/>
        </p:nvSpPr>
        <p:spPr>
          <a:xfrm>
            <a:off x="8275320" y="2103120"/>
            <a:ext cx="3246000" cy="5304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1" name="Google Shape;721;p24"/>
          <p:cNvSpPr txBox="1"/>
          <p:nvPr/>
        </p:nvSpPr>
        <p:spPr>
          <a:xfrm>
            <a:off x="8385048" y="2249424"/>
            <a:ext cx="3026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YARIN — ÖRNEK VARSAYIM</a:t>
            </a:r>
            <a:endParaRPr/>
          </a:p>
        </p:txBody>
      </p:sp>
      <p:sp>
        <p:nvSpPr>
          <p:cNvPr id="722" name="Google Shape;722;p24"/>
          <p:cNvSpPr/>
          <p:nvPr/>
        </p:nvSpPr>
        <p:spPr>
          <a:xfrm>
            <a:off x="640080" y="2651760"/>
            <a:ext cx="21489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3" name="Google Shape;723;p24"/>
          <p:cNvSpPr txBox="1"/>
          <p:nvPr/>
        </p:nvSpPr>
        <p:spPr>
          <a:xfrm>
            <a:off x="749808" y="2770632"/>
            <a:ext cx="192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Eğitim</a:t>
            </a:r>
            <a:endParaRPr/>
          </a:p>
        </p:txBody>
      </p:sp>
      <p:sp>
        <p:nvSpPr>
          <p:cNvPr id="724" name="Google Shape;724;p24"/>
          <p:cNvSpPr/>
          <p:nvPr/>
        </p:nvSpPr>
        <p:spPr>
          <a:xfrm>
            <a:off x="2971800" y="2651760"/>
            <a:ext cx="24231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5" name="Google Shape;725;p24"/>
          <p:cNvSpPr txBox="1"/>
          <p:nvPr/>
        </p:nvSpPr>
        <p:spPr>
          <a:xfrm>
            <a:off x="3081528" y="2770632"/>
            <a:ext cx="220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Basılı kitap</a:t>
            </a:r>
            <a:endParaRPr/>
          </a:p>
        </p:txBody>
      </p:sp>
      <p:sp>
        <p:nvSpPr>
          <p:cNvPr id="726" name="Google Shape;726;p24"/>
          <p:cNvSpPr/>
          <p:nvPr/>
        </p:nvSpPr>
        <p:spPr>
          <a:xfrm>
            <a:off x="5577840" y="2651760"/>
            <a:ext cx="25146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7" name="Google Shape;727;p24"/>
          <p:cNvSpPr txBox="1"/>
          <p:nvPr/>
        </p:nvSpPr>
        <p:spPr>
          <a:xfrm>
            <a:off x="5687568" y="2770632"/>
            <a:ext cx="22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Akıllı tahta / çevrim içi ders</a:t>
            </a:r>
            <a:endParaRPr/>
          </a:p>
        </p:txBody>
      </p:sp>
      <p:sp>
        <p:nvSpPr>
          <p:cNvPr id="728" name="Google Shape;728;p24"/>
          <p:cNvSpPr/>
          <p:nvPr/>
        </p:nvSpPr>
        <p:spPr>
          <a:xfrm>
            <a:off x="8275320" y="2651760"/>
            <a:ext cx="32460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p24"/>
          <p:cNvSpPr txBox="1"/>
          <p:nvPr/>
        </p:nvSpPr>
        <p:spPr>
          <a:xfrm>
            <a:off x="8385048" y="2770632"/>
            <a:ext cx="3026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Kişiye göre uyarlanan yapay zekâ destekli öğrenme ortamları</a:t>
            </a:r>
            <a:endParaRPr/>
          </a:p>
        </p:txBody>
      </p:sp>
      <p:sp>
        <p:nvSpPr>
          <p:cNvPr id="730" name="Google Shape;730;p24"/>
          <p:cNvSpPr/>
          <p:nvPr/>
        </p:nvSpPr>
        <p:spPr>
          <a:xfrm>
            <a:off x="640080" y="3401568"/>
            <a:ext cx="21489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1" name="Google Shape;731;p24"/>
          <p:cNvSpPr txBox="1"/>
          <p:nvPr/>
        </p:nvSpPr>
        <p:spPr>
          <a:xfrm>
            <a:off x="749808" y="3520439"/>
            <a:ext cx="192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İletişim</a:t>
            </a:r>
            <a:endParaRPr/>
          </a:p>
        </p:txBody>
      </p:sp>
      <p:sp>
        <p:nvSpPr>
          <p:cNvPr id="732" name="Google Shape;732;p24"/>
          <p:cNvSpPr/>
          <p:nvPr/>
        </p:nvSpPr>
        <p:spPr>
          <a:xfrm>
            <a:off x="2971800" y="3401568"/>
            <a:ext cx="24231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3" name="Google Shape;733;p24"/>
          <p:cNvSpPr txBox="1"/>
          <p:nvPr/>
        </p:nvSpPr>
        <p:spPr>
          <a:xfrm>
            <a:off x="3081528" y="3520439"/>
            <a:ext cx="220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Sabit telefon</a:t>
            </a:r>
            <a:endParaRPr/>
          </a:p>
        </p:txBody>
      </p:sp>
      <p:sp>
        <p:nvSpPr>
          <p:cNvPr id="734" name="Google Shape;734;p24"/>
          <p:cNvSpPr/>
          <p:nvPr/>
        </p:nvSpPr>
        <p:spPr>
          <a:xfrm>
            <a:off x="5577840" y="3401568"/>
            <a:ext cx="25146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Google Shape;735;p24"/>
          <p:cNvSpPr txBox="1"/>
          <p:nvPr/>
        </p:nvSpPr>
        <p:spPr>
          <a:xfrm>
            <a:off x="5687568" y="3520439"/>
            <a:ext cx="22950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Görüntülü görüşme / anlık mesaj</a:t>
            </a:r>
            <a:endParaRPr/>
          </a:p>
        </p:txBody>
      </p:sp>
      <p:sp>
        <p:nvSpPr>
          <p:cNvPr id="736" name="Google Shape;736;p24"/>
          <p:cNvSpPr/>
          <p:nvPr/>
        </p:nvSpPr>
        <p:spPr>
          <a:xfrm>
            <a:off x="8275320" y="3401568"/>
            <a:ext cx="32460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Google Shape;737;p24"/>
          <p:cNvSpPr txBox="1"/>
          <p:nvPr/>
        </p:nvSpPr>
        <p:spPr>
          <a:xfrm>
            <a:off x="8385048" y="3520439"/>
            <a:ext cx="3026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Konuşmayı anında farklı dillere çeviren giyilebilir cihazlar</a:t>
            </a:r>
            <a:endParaRPr/>
          </a:p>
        </p:txBody>
      </p:sp>
      <p:sp>
        <p:nvSpPr>
          <p:cNvPr id="738" name="Google Shape;738;p24"/>
          <p:cNvSpPr/>
          <p:nvPr/>
        </p:nvSpPr>
        <p:spPr>
          <a:xfrm>
            <a:off x="640080" y="4151376"/>
            <a:ext cx="21489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9" name="Google Shape;739;p24"/>
          <p:cNvSpPr txBox="1"/>
          <p:nvPr/>
        </p:nvSpPr>
        <p:spPr>
          <a:xfrm>
            <a:off x="749808" y="4270248"/>
            <a:ext cx="192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Ulaşım</a:t>
            </a:r>
            <a:endParaRPr/>
          </a:p>
        </p:txBody>
      </p:sp>
      <p:sp>
        <p:nvSpPr>
          <p:cNvPr id="740" name="Google Shape;740;p24"/>
          <p:cNvSpPr/>
          <p:nvPr/>
        </p:nvSpPr>
        <p:spPr>
          <a:xfrm>
            <a:off x="2971800" y="4151376"/>
            <a:ext cx="24231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1" name="Google Shape;741;p24"/>
          <p:cNvSpPr txBox="1"/>
          <p:nvPr/>
        </p:nvSpPr>
        <p:spPr>
          <a:xfrm>
            <a:off x="3081528" y="4270248"/>
            <a:ext cx="220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Kâğıt harita</a:t>
            </a:r>
            <a:endParaRPr/>
          </a:p>
        </p:txBody>
      </p:sp>
      <p:sp>
        <p:nvSpPr>
          <p:cNvPr id="742" name="Google Shape;742;p24"/>
          <p:cNvSpPr/>
          <p:nvPr/>
        </p:nvSpPr>
        <p:spPr>
          <a:xfrm>
            <a:off x="5577840" y="4151376"/>
            <a:ext cx="25146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3" name="Google Shape;743;p24"/>
          <p:cNvSpPr txBox="1"/>
          <p:nvPr/>
        </p:nvSpPr>
        <p:spPr>
          <a:xfrm>
            <a:off x="5687568" y="4270248"/>
            <a:ext cx="22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Navigasyon / sürücü desteği</a:t>
            </a:r>
            <a:endParaRPr/>
          </a:p>
        </p:txBody>
      </p:sp>
      <p:sp>
        <p:nvSpPr>
          <p:cNvPr id="744" name="Google Shape;744;p24"/>
          <p:cNvSpPr/>
          <p:nvPr/>
        </p:nvSpPr>
        <p:spPr>
          <a:xfrm>
            <a:off x="8275320" y="4151376"/>
            <a:ext cx="32460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5" name="Google Shape;745;p24"/>
          <p:cNvSpPr txBox="1"/>
          <p:nvPr/>
        </p:nvSpPr>
        <p:spPr>
          <a:xfrm>
            <a:off x="8385048" y="4270248"/>
            <a:ext cx="302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Birbiriyle haberleşen daha otonom araçlar</a:t>
            </a:r>
            <a:endParaRPr/>
          </a:p>
        </p:txBody>
      </p:sp>
      <p:sp>
        <p:nvSpPr>
          <p:cNvPr id="746" name="Google Shape;746;p24"/>
          <p:cNvSpPr/>
          <p:nvPr/>
        </p:nvSpPr>
        <p:spPr>
          <a:xfrm>
            <a:off x="640080" y="4901184"/>
            <a:ext cx="21489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7" name="Google Shape;747;p24"/>
          <p:cNvSpPr txBox="1"/>
          <p:nvPr/>
        </p:nvSpPr>
        <p:spPr>
          <a:xfrm>
            <a:off x="749808" y="5020056"/>
            <a:ext cx="192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2971800" y="4901184"/>
            <a:ext cx="24231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9" name="Google Shape;749;p24"/>
          <p:cNvSpPr txBox="1"/>
          <p:nvPr/>
        </p:nvSpPr>
        <p:spPr>
          <a:xfrm>
            <a:off x="3081528" y="5020056"/>
            <a:ext cx="220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Her cihaz ayrı kontrol</a:t>
            </a:r>
            <a:endParaRPr/>
          </a:p>
        </p:txBody>
      </p:sp>
      <p:sp>
        <p:nvSpPr>
          <p:cNvPr id="750" name="Google Shape;750;p24"/>
          <p:cNvSpPr/>
          <p:nvPr/>
        </p:nvSpPr>
        <p:spPr>
          <a:xfrm>
            <a:off x="5577840" y="4901184"/>
            <a:ext cx="25146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1" name="Google Shape;751;p24"/>
          <p:cNvSpPr txBox="1"/>
          <p:nvPr/>
        </p:nvSpPr>
        <p:spPr>
          <a:xfrm>
            <a:off x="5687568" y="5020056"/>
            <a:ext cx="22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Sesle / telefondan kontrol</a:t>
            </a:r>
            <a:endParaRPr/>
          </a:p>
        </p:txBody>
      </p:sp>
      <p:sp>
        <p:nvSpPr>
          <p:cNvPr id="752" name="Google Shape;752;p24"/>
          <p:cNvSpPr/>
          <p:nvPr/>
        </p:nvSpPr>
        <p:spPr>
          <a:xfrm>
            <a:off x="8275320" y="4901184"/>
            <a:ext cx="32460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3" name="Google Shape;753;p24"/>
          <p:cNvSpPr txBox="1"/>
          <p:nvPr/>
        </p:nvSpPr>
        <p:spPr>
          <a:xfrm>
            <a:off x="8385048" y="5020056"/>
            <a:ext cx="30267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Rutin işleri kendi planlayan yardımcı ev robotları</a:t>
            </a:r>
            <a:endParaRPr/>
          </a:p>
        </p:txBody>
      </p:sp>
      <p:sp>
        <p:nvSpPr>
          <p:cNvPr id="754" name="Google Shape;754;p24"/>
          <p:cNvSpPr/>
          <p:nvPr/>
        </p:nvSpPr>
        <p:spPr>
          <a:xfrm>
            <a:off x="640080" y="5897880"/>
            <a:ext cx="10881300" cy="4389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ECFDF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Google Shape;755;p24"/>
          <p:cNvSpPr txBox="1"/>
          <p:nvPr/>
        </p:nvSpPr>
        <p:spPr>
          <a:xfrm>
            <a:off x="822960" y="5998464"/>
            <a:ext cx="105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Değerlendirme ölçütü: Varsayım, bugünkü gelişim yönüyle bağlantılı ve kısa bir gerekçeyle açıklanmış olmalı.</a:t>
            </a:r>
            <a:endParaRPr/>
          </a:p>
        </p:txBody>
      </p:sp>
      <p:sp>
        <p:nvSpPr>
          <p:cNvPr id="756" name="Google Shape;756;p24"/>
          <p:cNvSpPr/>
          <p:nvPr/>
        </p:nvSpPr>
        <p:spPr>
          <a:xfrm>
            <a:off x="640074" y="411475"/>
            <a:ext cx="2581800" cy="4572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9525">
            <a:solidFill>
              <a:srgbClr val="EEF2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Google Shape;757;p24"/>
          <p:cNvSpPr txBox="1"/>
          <p:nvPr/>
        </p:nvSpPr>
        <p:spPr>
          <a:xfrm>
            <a:off x="822947" y="493775"/>
            <a:ext cx="233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CEVAP ANAHTARI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5"/>
          <p:cNvSpPr txBox="1"/>
          <p:nvPr/>
        </p:nvSpPr>
        <p:spPr>
          <a:xfrm>
            <a:off x="640080" y="978408"/>
            <a:ext cx="1088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Etkinlik 4 ve Çıkış Bileti — örnek cevaplar</a:t>
            </a:r>
            <a:endParaRPr/>
          </a:p>
        </p:txBody>
      </p:sp>
      <p:sp>
        <p:nvSpPr>
          <p:cNvPr id="764" name="Google Shape;764;p25"/>
          <p:cNvSpPr txBox="1"/>
          <p:nvPr/>
        </p:nvSpPr>
        <p:spPr>
          <a:xfrm>
            <a:off x="640080" y="1554480"/>
            <a:ext cx="1088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Açık uçlu etkinliklerde tek doğru yoktur; aşağıdakiler örnektir.</a:t>
            </a:r>
            <a:endParaRPr/>
          </a:p>
        </p:txBody>
      </p:sp>
      <p:sp>
        <p:nvSpPr>
          <p:cNvPr id="765" name="Google Shape;765;p25"/>
          <p:cNvSpPr/>
          <p:nvPr/>
        </p:nvSpPr>
        <p:spPr>
          <a:xfrm>
            <a:off x="640080" y="2057400"/>
            <a:ext cx="5257800" cy="12345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ECFDF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6" name="Google Shape;766;p25"/>
          <p:cNvSpPr txBox="1"/>
          <p:nvPr/>
        </p:nvSpPr>
        <p:spPr>
          <a:xfrm>
            <a:off x="841247" y="2203704"/>
            <a:ext cx="4855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GÜÇLÜ YÖNLER</a:t>
            </a:r>
            <a:endParaRPr/>
          </a:p>
        </p:txBody>
      </p:sp>
      <p:sp>
        <p:nvSpPr>
          <p:cNvPr id="767" name="Google Shape;767;p25"/>
          <p:cNvSpPr txBox="1"/>
          <p:nvPr/>
        </p:nvSpPr>
        <p:spPr>
          <a:xfrm>
            <a:off x="841247" y="2514600"/>
            <a:ext cx="48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Konuları üç boyutlu görselleştirebilir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Sanal gezi ve deneylerle öğrenmeyi destekleyebilir</a:t>
            </a:r>
            <a:endParaRPr/>
          </a:p>
        </p:txBody>
      </p:sp>
      <p:sp>
        <p:nvSpPr>
          <p:cNvPr id="768" name="Google Shape;768;p25"/>
          <p:cNvSpPr/>
          <p:nvPr/>
        </p:nvSpPr>
        <p:spPr>
          <a:xfrm>
            <a:off x="6263640" y="2057400"/>
            <a:ext cx="5257800" cy="123450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9525">
            <a:solidFill>
              <a:srgbClr val="FEF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9" name="Google Shape;769;p25"/>
          <p:cNvSpPr txBox="1"/>
          <p:nvPr/>
        </p:nvSpPr>
        <p:spPr>
          <a:xfrm>
            <a:off x="6464807" y="2203704"/>
            <a:ext cx="4855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ZAYIF YÖNLER</a:t>
            </a:r>
            <a:endParaRPr/>
          </a:p>
        </p:txBody>
      </p:sp>
      <p:sp>
        <p:nvSpPr>
          <p:cNvPr id="770" name="Google Shape;770;p25"/>
          <p:cNvSpPr txBox="1"/>
          <p:nvPr/>
        </p:nvSpPr>
        <p:spPr>
          <a:xfrm>
            <a:off x="6464807" y="2514600"/>
            <a:ext cx="48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Uzun kullanımda baş dönmesi / göz yorgunluğu yapabilir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Cihazlar pahalı olabilir</a:t>
            </a:r>
            <a:endParaRPr/>
          </a:p>
        </p:txBody>
      </p:sp>
      <p:sp>
        <p:nvSpPr>
          <p:cNvPr id="771" name="Google Shape;771;p25"/>
          <p:cNvSpPr/>
          <p:nvPr/>
        </p:nvSpPr>
        <p:spPr>
          <a:xfrm>
            <a:off x="640080" y="3493008"/>
            <a:ext cx="5257800" cy="12345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EFF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2" name="Google Shape;772;p25"/>
          <p:cNvSpPr txBox="1"/>
          <p:nvPr/>
        </p:nvSpPr>
        <p:spPr>
          <a:xfrm>
            <a:off x="841247" y="3639312"/>
            <a:ext cx="4855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FIRSATLAR</a:t>
            </a:r>
            <a:endParaRPr/>
          </a:p>
        </p:txBody>
      </p:sp>
      <p:sp>
        <p:nvSpPr>
          <p:cNvPr id="773" name="Google Shape;773;p25"/>
          <p:cNvSpPr txBox="1"/>
          <p:nvPr/>
        </p:nvSpPr>
        <p:spPr>
          <a:xfrm>
            <a:off x="841247" y="3950208"/>
            <a:ext cx="48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Tehlikeli deneyler güvenli biçimde simüle edilebilir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Uzak yerler ve tarihî mekânlar sanal olarak gezilebilir</a:t>
            </a:r>
            <a:endParaRPr/>
          </a:p>
        </p:txBody>
      </p:sp>
      <p:sp>
        <p:nvSpPr>
          <p:cNvPr id="774" name="Google Shape;774;p25"/>
          <p:cNvSpPr/>
          <p:nvPr/>
        </p:nvSpPr>
        <p:spPr>
          <a:xfrm>
            <a:off x="6263640" y="3493008"/>
            <a:ext cx="5257800" cy="123450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9525">
            <a:solidFill>
              <a:srgbClr val="FFFB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5" name="Google Shape;775;p25"/>
          <p:cNvSpPr txBox="1"/>
          <p:nvPr/>
        </p:nvSpPr>
        <p:spPr>
          <a:xfrm>
            <a:off x="6464807" y="3639312"/>
            <a:ext cx="4855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TEHDİTLER</a:t>
            </a:r>
            <a:endParaRPr/>
          </a:p>
        </p:txBody>
      </p:sp>
      <p:sp>
        <p:nvSpPr>
          <p:cNvPr id="776" name="Google Shape;776;p25"/>
          <p:cNvSpPr txBox="1"/>
          <p:nvPr/>
        </p:nvSpPr>
        <p:spPr>
          <a:xfrm>
            <a:off x="6464807" y="3950208"/>
            <a:ext cx="48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Her öğrencinin cihaza eşit erişimi olmayabilir</a:t>
            </a:r>
            <a:b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Aşırı kullanım, gerçek yaşam etkileşimini azaltabilir</a:t>
            </a:r>
            <a:endParaRPr/>
          </a:p>
        </p:txBody>
      </p:sp>
      <p:sp>
        <p:nvSpPr>
          <p:cNvPr id="777" name="Google Shape;777;p25"/>
          <p:cNvSpPr/>
          <p:nvPr/>
        </p:nvSpPr>
        <p:spPr>
          <a:xfrm>
            <a:off x="640080" y="4983480"/>
            <a:ext cx="10881300" cy="109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8" name="Google Shape;778;p25"/>
          <p:cNvSpPr txBox="1"/>
          <p:nvPr/>
        </p:nvSpPr>
        <p:spPr>
          <a:xfrm>
            <a:off x="868680" y="5184648"/>
            <a:ext cx="201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ÇIKIŞ BİLETİ — ÖRNEK</a:t>
            </a:r>
            <a:endParaRPr/>
          </a:p>
        </p:txBody>
      </p:sp>
      <p:sp>
        <p:nvSpPr>
          <p:cNvPr id="779" name="Google Shape;779;p25"/>
          <p:cNvSpPr txBox="1"/>
          <p:nvPr/>
        </p:nvSpPr>
        <p:spPr>
          <a:xfrm>
            <a:off x="2743200" y="5138928"/>
            <a:ext cx="83211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A) ENIAC’ın oda büyüklüğünde olması beni şaşırttı.   B) Teknoloji küçülüyor ve hızlanıyor.   C) Bu örüntü sürerse gelecekte daha küçük ve daha güçlü giyilebilir bilgisayarlar yaygınlaşabilir.</a:t>
            </a:r>
            <a:endParaRPr/>
          </a:p>
        </p:txBody>
      </p:sp>
      <p:sp>
        <p:nvSpPr>
          <p:cNvPr id="780" name="Google Shape;780;p25"/>
          <p:cNvSpPr/>
          <p:nvPr/>
        </p:nvSpPr>
        <p:spPr>
          <a:xfrm>
            <a:off x="640074" y="411475"/>
            <a:ext cx="2581800" cy="4572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9525">
            <a:solidFill>
              <a:srgbClr val="EEF2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Google Shape;781;p25"/>
          <p:cNvSpPr txBox="1"/>
          <p:nvPr/>
        </p:nvSpPr>
        <p:spPr>
          <a:xfrm>
            <a:off x="822947" y="493775"/>
            <a:ext cx="233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CEVAP ANAHTARI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