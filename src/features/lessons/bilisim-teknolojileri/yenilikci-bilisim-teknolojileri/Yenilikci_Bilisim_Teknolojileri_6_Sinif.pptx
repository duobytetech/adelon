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Sınıf • Bilişim Teknolojileri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BTY.6.1.1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olorful_modern_3d_cgi_illustration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81934">
              <a:alpha val="92000"/>
            </a:srgbClr>
          </a:solidFill>
          <a:ln w="12700">
            <a:solidFill>
              <a:srgbClr val="08193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658368"/>
            <a:ext cx="3035808" cy="384048"/>
          </a:xfrm>
          <a:prstGeom prst="roundRect">
            <a:avLst>
              <a:gd name="adj" fmla="val 42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749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D7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SINIF • BİLİŞİM TEKNOLOJİLERİ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4944" y="1444752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Yenilikçi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Bilişim Teknolojileri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Bilişim teknolojilerini tanıyalım, günlük yaşamla ilişkilendirelim ve kullanım alanlarına göre sınıflandıralım.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232" y="4261104"/>
            <a:ext cx="1207008" cy="384048"/>
          </a:xfrm>
          <a:prstGeom prst="roundRect">
            <a:avLst>
              <a:gd name="adj" fmla="val 47619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432511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BTY.6.1.1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29968" y="4261104"/>
            <a:ext cx="1901952" cy="384048"/>
          </a:xfrm>
          <a:prstGeom prst="roundRect">
            <a:avLst>
              <a:gd name="adj" fmla="val 47619"/>
            </a:avLst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43251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Tahta Uyumlu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5925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FD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Ünite / Tema: Bilişim Teknolojilerinin Hayatımızdaki Yeri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ÖĞRENME HEDEFLERI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neler öğreneceğiz?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Dersin sonunda “teknolojiyi tanıma → günlük yaşamla ilişkilendirme → sınıflandırma” zincirini kuracağız.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3429000" cy="3255264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67712"/>
            <a:ext cx="713232" cy="713232"/>
          </a:xfrm>
          <a:prstGeom prst="ellipse">
            <a:avLst/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3957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46704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7824" y="318211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Kavramları tanırım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7824" y="3767328"/>
            <a:ext cx="290779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Yenilikçi bilişim teknolojilerine ait temel kavramları örnekleriyle açıklarım.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16552" y="1965960"/>
            <a:ext cx="3429000" cy="3255264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72584" y="2267712"/>
            <a:ext cx="713232" cy="713232"/>
          </a:xfrm>
          <a:prstGeom prst="ellipse">
            <a:avLst/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23957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1464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672584" y="318211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Hayatla ilişkilendiririm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72584" y="3767328"/>
            <a:ext cx="290779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teknolojinin hangi işi kolaylaştırdığını ve hangi probleme çözüm sunduğunu fark ederim.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11312" y="1965960"/>
            <a:ext cx="3429000" cy="3255264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67344" y="2267712"/>
            <a:ext cx="713232" cy="713232"/>
          </a:xfrm>
          <a:prstGeom prst="ellipse">
            <a:avLst/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5360" y="239572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36224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467344" y="318211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Gruplandırırım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467344" y="3767328"/>
            <a:ext cx="290779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Teknolojileri eğitim, sağlık, ulaşım, üretim, eğlence ve ev gibi kullanım alanlarına göre sınıflandırırım.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21792" y="5532120"/>
            <a:ext cx="10972800" cy="585216"/>
          </a:xfrm>
          <a:prstGeom prst="roundRect">
            <a:avLst>
              <a:gd name="adj" fmla="val 25000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568756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boyunca şu soruyu düşün: “Bu teknoloji olmasaydı hangi iş daha zor olurdu?”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DERSTEN ÖNCE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Isınma: Teknoloji dedektifleri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Aşağıdaki durumlarda hangi yenilikçi teknoloji olabilir? Tahmin et, sonra nedenini söyle.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53949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084832"/>
            <a:ext cx="438912" cy="438912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08176" y="2066544"/>
            <a:ext cx="443484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Telefon, çektiğin fotoğraftaki kediyi otomatik olarak tanıyor.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44768" y="1901952"/>
            <a:ext cx="53949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45936" y="2084832"/>
            <a:ext cx="438912" cy="438912"/>
          </a:xfrm>
          <a:prstGeom prst="ellipse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94576" y="2066544"/>
            <a:ext cx="443484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Saatin, gün boyunca attığın adımları ve nabzını ölçüyor.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53949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" y="326440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558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08176" y="3246120"/>
            <a:ext cx="443484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gözlük taktığında kendini uzay istasyonundaymış gibi hissediyorsun.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44768" y="3081528"/>
            <a:ext cx="53949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45936" y="3264408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33558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94576" y="3246120"/>
            <a:ext cx="443484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Evdeki lamba, telefonundan verdiğin komutla açılıyor.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4261104"/>
            <a:ext cx="53949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9536" y="44439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5354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08176" y="4425696"/>
            <a:ext cx="443484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makine, bilgisayarda çizilen anahtarlığı katman katman üretiyor.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144768" y="4261104"/>
            <a:ext cx="53949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45936" y="4443984"/>
            <a:ext cx="438912" cy="43891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45354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4425696"/>
            <a:ext cx="443484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robot, fabrikanın aynı işini yorulmadan tekrar ediyor.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76656" y="55504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saniye düşün → Yanındaki arkadaşınla paylaş → Sınıfça kontrol et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“Yenilikçi bilişim teknolojisi” ne demek?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521208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642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Kısaca: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455371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Bilgiyi işleyen, iletişim kuran veya bir işi daha hızlı, güvenli, kolay ya da akıllı hâle getiren yeni nesil teknolojilerdir.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teknoloji “yenilikçi” olduğunda genellikle: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4133088"/>
            <a:ext cx="4526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toplar veya işler,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insanla / cihazla etkileşir,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probleme yeni ya da daha etkili çözüm sunar.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44768" y="132588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A9C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ANAHTAR SORU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10528" y="2304288"/>
            <a:ext cx="438912" cy="438912"/>
          </a:xfrm>
          <a:prstGeom prst="ellipse">
            <a:avLst/>
          </a:prstGeom>
          <a:solidFill>
            <a:srgbClr val="5B3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4048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0608" y="23042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yapıyor?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50608" y="26243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Teknolojinin görevi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10528" y="3246120"/>
            <a:ext cx="438912" cy="438912"/>
          </a:xfrm>
          <a:prstGeom prst="ellipse">
            <a:avLst/>
          </a:prstGeom>
          <a:solidFill>
            <a:srgbClr val="14B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34670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32461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Neyi kolaylaştırıyor?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50608" y="35661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yaşamdaki yararı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0528" y="4187952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288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0608" y="41879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kullanılıyor?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50608" y="450799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Kullanım alanı / sektör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0528" y="50749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üç soruya cevap verebiliyorsan teknoloji dedektifliğini yapabiliyorsun!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Kullanım alanlarına göre sınıflandıralım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teknoloji birden fazla alanda kullanılabilir. Sınıflandırırken “asıl kullanım amacı”na bakarız.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" y="1828800"/>
            <a:ext cx="34564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048256"/>
            <a:ext cx="566928" cy="566928"/>
          </a:xfrm>
          <a:prstGeom prst="ellipse">
            <a:avLst/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1762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9344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2670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içerik, VR laboratuvarı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98848" y="1828800"/>
            <a:ext cx="34564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18304" y="2048256"/>
            <a:ext cx="566928" cy="566928"/>
          </a:xfrm>
          <a:prstGeom prst="ellipse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0" y="217627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1536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18304" y="2670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saat, robotik cerrahi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1828800"/>
            <a:ext cx="34564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0496" y="2048256"/>
            <a:ext cx="566928" cy="56692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8512" y="217627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53728" y="20299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Ulaşım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40496" y="2670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Sürücü destek sistemleri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76656" y="3675888"/>
            <a:ext cx="34564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96112" y="3895344"/>
            <a:ext cx="566928" cy="566928"/>
          </a:xfrm>
          <a:prstGeom prst="ellipse">
            <a:avLst/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402336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9344" y="38770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Yaşam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96112" y="45171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lamba, sensör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498848" y="3675888"/>
            <a:ext cx="34564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18304" y="3895344"/>
            <a:ext cx="566928" cy="566928"/>
          </a:xfrm>
          <a:prstGeom prst="ellipse">
            <a:avLst/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6320" y="4023360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31536" y="38770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4718304" y="45171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Robot, 3B yazıcı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321040" y="3675888"/>
            <a:ext cx="3456432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40496" y="3895344"/>
            <a:ext cx="566928" cy="566928"/>
          </a:xfrm>
          <a:prstGeom prst="ellipse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68512" y="4023360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53728" y="38770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Eğlence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8540496" y="45171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AR/VR oyunlar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76656" y="5742432"/>
            <a:ext cx="10972800" cy="475488"/>
          </a:xfrm>
          <a:prstGeom prst="roundRect">
            <a:avLst>
              <a:gd name="adj" fmla="val 26923"/>
            </a:avLst>
          </a:prstGeom>
          <a:solidFill>
            <a:srgbClr val="E8EEFA"/>
          </a:solidFill>
          <a:ln w="12700">
            <a:solidFill>
              <a:srgbClr val="E8EEFA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14400" y="5870448"/>
            <a:ext cx="10479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0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Yapay zekâ → eğitimde soru önerir, sağlıkta görüntü analizine yardım eder, ulaşımda sürücü destek sistemlerini güçlendirebilir.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(YZ)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Veriyi kullanır, örüntüleri fark eder, öneri veya tahmin üretir.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Fotoğraflardaki nesneleri tanıma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Sesli komutları anlama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 sistemleri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/ görsel üretimine yardımcı olma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Kişiye uygun alıştırma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Görüntü analizine destek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Ulaşım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Sürücü destek sistemleri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Sence yapay zekâ “düşünür” mü, yoksa verilerden örüntü mü öğrenir?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Nesnelerin İnterneti (IoT)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Cihazların sensör ve internet yardımıyla veri paylaşmasıdır.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lambalar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Hava / sıcaklık sensörleri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tarım sistemleri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Uzaktan kontrol edilen cihazlar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Enerji tasarrufu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Tarım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Toprak nemini izleme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Şehir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Trafik / çevre sensörleri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Evindeki hangi eşya “akıllı” olsaydı işini kolaylaştırırdı?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Robotik Sistemler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Programlanan görevleri fiziksel dünyada yerine getiren sistemlerdir.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 robotları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 robotları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 taşıma robotları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Arama-kurtarma robotları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Tekrarlı işleri hızlı yapma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Kodlama ve problem çözme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Riskli alana insan yerine girme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robotun iyi çalışması için yalnızca “makine” yeterli midir?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Sanal Gerçeklik (VR) ve Artırılmış Gerçeklik (AR)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dijital bir ortamın içine taşır; AR gerçek görüntünün üzerine dijital bilgi ekler.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VR: sanal müze gezisi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VR: uçuş / ameliyat simülasyonu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AR: kamerada yön / bilgi gösterme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AR: 3B modeli sıranın üstünde görme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Deneyimi canlandırma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Tasarım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 önceden görme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Eğlence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Etkileşimli oyun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kamerasında odana sanal bir koltuk yerleştirmen VR mi, AR mi?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Yazıcılar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Bilgisayardaki 3 boyutlu modeli, malzemeyi katman katman ekleyerek fiziksel nesneye dönüştürür.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 üretme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materyali hazırlama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Yedek parça üretme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Kişiye özel tasarım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maket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prototip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Kişiye uygun yardımcı parçalar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yazıcıdan çıkacak bir nesne önce nerede tasarlanır?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Giyilebilir Teknolojiler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Vücutta taşınan ve veri toplayabilen / işleyebilen dijital cihazlardır.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saat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 bilekliği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gözlük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Konum / aktivite sensörleri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Nabız ve aktivite takibi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Antrenman verisi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İletişim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Bildirim / hızlı erişim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akıllı saatin topladığı veriler neden kişisel veri sayılabilir?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ve Otonom Sistemler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Sensörler, yazılım ve kontrol sistemleriyle çevreyi algılayıp hareket edebilir.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12140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hayattan örnekler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Havadan görüntüleme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Tarım alanı kontrolü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Arama-kurtarma desteği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 taşıma araçları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Nerelerde kullanılır?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Tarım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gözlemi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Ulaşılması zor bölge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name="adj" fmla="val 27083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Ulaşım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 hareket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name="adj" fmla="val 22222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5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 &amp; PAYLAŞ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sistemin “otonom” olması ne anlama gelir?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BAĞLANTI KUR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Yenilikçi teknolojiler hayatımızı nasıl kolaylaştırır?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Teknolojinin değerini yalnızca “yeni” olması değil, çözdüğü problem belirler.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517550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075688"/>
            <a:ext cx="566928" cy="566928"/>
          </a:xfrm>
          <a:prstGeom prst="ellipse">
            <a:avLst/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20370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1056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91056" y="23774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Tekrarlı işleri daha kısa sürede yapabilir.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6181344" y="1847088"/>
            <a:ext cx="517550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075688"/>
            <a:ext cx="566928" cy="56692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8816" y="22037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4032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Doğruluk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114032" y="23774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Ölçüm ve veri takibinde hatayı azaltmaya yardımcı olabilir.</a:t>
            </a:r>
            <a:endParaRPr lang="en-US" sz="1320" dirty="0"/>
          </a:p>
        </p:txBody>
      </p:sp>
      <p:sp>
        <p:nvSpPr>
          <p:cNvPr id="15" name="Shape 11"/>
          <p:cNvSpPr/>
          <p:nvPr/>
        </p:nvSpPr>
        <p:spPr>
          <a:xfrm>
            <a:off x="658368" y="3264408"/>
            <a:ext cx="517550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3493008"/>
            <a:ext cx="566928" cy="566928"/>
          </a:xfrm>
          <a:prstGeom prst="ellipse">
            <a:avLst/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36210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91056" y="3447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Erişilebilirlik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591056" y="379476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Bazı görevleri farklı ihtiyaçlara göre uyarlayabilir.</a:t>
            </a:r>
            <a:endParaRPr lang="en-US" sz="1320" dirty="0"/>
          </a:p>
        </p:txBody>
      </p:sp>
      <p:sp>
        <p:nvSpPr>
          <p:cNvPr id="20" name="Shape 15"/>
          <p:cNvSpPr/>
          <p:nvPr/>
        </p:nvSpPr>
        <p:spPr>
          <a:xfrm>
            <a:off x="6181344" y="3264408"/>
            <a:ext cx="517550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3493008"/>
            <a:ext cx="566928" cy="566928"/>
          </a:xfrm>
          <a:prstGeom prst="ellipse">
            <a:avLst/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8816" y="362102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14032" y="3447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114032" y="379476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Riskli ortamlarda sensör ve robotlardan yararlanılabilir.</a:t>
            </a:r>
            <a:endParaRPr lang="en-US" sz="1320" dirty="0"/>
          </a:p>
        </p:txBody>
      </p:sp>
      <p:sp>
        <p:nvSpPr>
          <p:cNvPr id="25" name="Shape 19"/>
          <p:cNvSpPr/>
          <p:nvPr/>
        </p:nvSpPr>
        <p:spPr>
          <a:xfrm>
            <a:off x="658368" y="4919472"/>
            <a:ext cx="10954512" cy="950976"/>
          </a:xfrm>
          <a:prstGeom prst="roundRect">
            <a:avLst>
              <a:gd name="adj" fmla="val 14423"/>
            </a:avLst>
          </a:prstGeom>
          <a:solidFill>
            <a:srgbClr val="FFF4F4"/>
          </a:solidFill>
          <a:ln w="12700">
            <a:solidFill>
              <a:srgbClr val="F7C8C8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" y="5120640"/>
            <a:ext cx="512064" cy="512064"/>
          </a:xfrm>
          <a:prstGeom prst="ellipse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128" y="524865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27632" y="5120640"/>
            <a:ext cx="9528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A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Dikkat: Teknoloji kullanırken gizlilik, güvenlik, ekran süresi, doğruluk ve insan kontrolü de düşünülmelidir.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Sınıflandırma oyunu: Hangi alana koyarsın?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tek başına düşün. Sonra seçimini gerekçelendir. Bazı örnekler birden fazla alana uyabilir!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5184648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057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sulama sensörü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52544" y="2057400"/>
            <a:ext cx="1188720" cy="438912"/>
          </a:xfrm>
          <a:prstGeom prst="roundRect">
            <a:avLst>
              <a:gd name="adj" fmla="val 29167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21854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SEÇ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877824" y="24871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cevap: Tarım / Ev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184648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91656" y="2057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ile tarih müzesi gezisi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866376" y="2057400"/>
            <a:ext cx="1188720" cy="438912"/>
          </a:xfrm>
          <a:prstGeom prst="roundRect">
            <a:avLst>
              <a:gd name="adj" fmla="val 29167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1854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SEÇ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391656" y="24871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cevap: Eğitim / Eğlence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063240"/>
            <a:ext cx="5184648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Fabrikada kaynak yapan robot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52544" y="3246120"/>
            <a:ext cx="1188720" cy="438912"/>
          </a:xfrm>
          <a:prstGeom prst="roundRect">
            <a:avLst>
              <a:gd name="adj" fmla="val 29167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337413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SEÇ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877824" y="36758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cevap: Üretim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5184648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91656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Kalp atışını ölçen akıllı saat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866376" y="3246120"/>
            <a:ext cx="1188720" cy="438912"/>
          </a:xfrm>
          <a:prstGeom prst="roundRect">
            <a:avLst>
              <a:gd name="adj" fmla="val 29167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337413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SEÇ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6391656" y="36758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cevap: Sağlık / Spor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4251960"/>
            <a:ext cx="5184648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7824" y="4434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Trafiği izleyen şehir sensörü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352544" y="4434840"/>
            <a:ext cx="1188720" cy="438912"/>
          </a:xfrm>
          <a:prstGeom prst="roundRect">
            <a:avLst>
              <a:gd name="adj" fmla="val 29167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45628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SEÇ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877824" y="48646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cevap: Ulaşım / Şehir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4251960"/>
            <a:ext cx="5184648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91656" y="4434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yazıcıyla ders modeli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9866376" y="4434840"/>
            <a:ext cx="1188720" cy="438912"/>
          </a:xfrm>
          <a:prstGeom prst="roundRect">
            <a:avLst>
              <a:gd name="adj" fmla="val 29167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45628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SEÇ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6391656" y="48646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cevap: Eğitim / Üretim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" y="56875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olan sadece kategori adı değil; seçiminin nedenini açıklayabilmen.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PERFORMANS GÖREVI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Takım görevi: “Geleceğin Akıllı Çözümü”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kişilik ekipler hâlinde okulda veya evde bir problemi seçin ve yenilikçi bir çözüm tasarlayın.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46888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9968"/>
            <a:ext cx="475488" cy="475488"/>
          </a:xfrm>
          <a:prstGeom prst="ellipse">
            <a:avLst/>
          </a:prstGeom>
          <a:solidFill>
            <a:srgbClr val="5B3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396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seç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3697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Ör: sınıfta gereksiz yanan ışıklar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3447288" y="1828800"/>
            <a:ext cx="246888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029968"/>
            <a:ext cx="475488" cy="475488"/>
          </a:xfrm>
          <a:prstGeom prst="ellipse">
            <a:avLst/>
          </a:prstGeom>
          <a:solidFill>
            <a:srgbClr val="14B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396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6974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Teknolojiyi seç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323697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YZ, IoT, robotik, AR/VR, 3B yazıcı...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236208" y="1828800"/>
            <a:ext cx="246888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29968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1396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Çözümü çiz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23697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çalışacağını basit bir şema ile göster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9025128" y="1828800"/>
            <a:ext cx="246888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20299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1396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269748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ve savun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323697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“Neyi kolaylaştırıyor, hangi alanda?” sorularını yanıtla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58368" y="4590288"/>
            <a:ext cx="10927080" cy="1325880"/>
          </a:xfrm>
          <a:prstGeom prst="roundRect">
            <a:avLst>
              <a:gd name="adj" fmla="val 10345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8097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A8C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BAŞARI KRİTERLERİ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23036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Problem net  •  ✓ Teknoloji doğru seçilmiş  •  ✓ Günlük yaşama yararı açıklanmış  •  ✓ Kullanım alanı belirtilmiş  •  ✓ Takım sunumu anlaşılır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ÖLÇME VE DEĞERLENDIRME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Dereceli puanlama anahtarı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Takım görevi için öğretmen değerlendirmesi + akran değerlendirmesi birlikte kullanılabilir.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1691640"/>
            <a:ext cx="3154680" cy="594360"/>
          </a:xfrm>
          <a:prstGeom prst="rect">
            <a:avLst/>
          </a:prstGeom>
          <a:solidFill>
            <a:srgbClr val="10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562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Ölçüt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3776472" y="1691640"/>
            <a:ext cx="2423160" cy="594360"/>
          </a:xfrm>
          <a:prstGeom prst="rect">
            <a:avLst/>
          </a:prstGeom>
          <a:solidFill>
            <a:srgbClr val="5B3D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912" y="18562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Çok iyi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2423160" cy="594360"/>
          </a:xfrm>
          <a:prstGeom prst="rect">
            <a:avLst/>
          </a:prstGeom>
          <a:solidFill>
            <a:srgbClr val="5B3D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8562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Gelişiyor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22792" y="1691640"/>
            <a:ext cx="2423160" cy="594360"/>
          </a:xfrm>
          <a:prstGeom prst="rect">
            <a:avLst/>
          </a:prstGeom>
          <a:solidFill>
            <a:srgbClr val="5B3D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14232" y="18562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Destek gerekli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21792" y="2286000"/>
            <a:ext cx="3154680" cy="804672"/>
          </a:xfrm>
          <a:prstGeom prst="rect">
            <a:avLst/>
          </a:prstGeom>
          <a:solidFill>
            <a:srgbClr val="EDF2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2316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açıklama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76472" y="2286000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42316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ve günlük yaşamla ilişkili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2286000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42316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Kısmen açık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22792" y="2286000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242316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Belirsiz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" y="3090672"/>
            <a:ext cx="3154680" cy="804672"/>
          </a:xfrm>
          <a:prstGeom prst="rect">
            <a:avLst/>
          </a:prstGeom>
          <a:solidFill>
            <a:srgbClr val="EDF2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27832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 seçimi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76472" y="3090672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227832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Uygun ve gerekçeli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3090672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227832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Uygun, gerekçe zayıf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22792" y="3090672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3227832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Uygun değil / açıklanmamış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" y="3895344"/>
            <a:ext cx="3154680" cy="804672"/>
          </a:xfrm>
          <a:prstGeom prst="rect">
            <a:avLst/>
          </a:prstGeom>
          <a:solidFill>
            <a:srgbClr val="EDF2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032504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Sınıflandırma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76472" y="3895344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4032504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Kullanım alanını doğru açıklar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99632" y="3895344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032504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Alanı söyler, açıklama eksik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22792" y="3895344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032504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yanlış / yok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792" y="4700016"/>
            <a:ext cx="3154680" cy="804672"/>
          </a:xfrm>
          <a:prstGeom prst="rect">
            <a:avLst/>
          </a:prstGeom>
          <a:solidFill>
            <a:srgbClr val="EDF2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837176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Takım sunumu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776472" y="4700016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4837176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Açık, düzenli, herkes katılır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99632" y="4700016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837176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Kısmen düzenli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622792" y="4700016"/>
            <a:ext cx="2423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4837176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Anlaşılması zor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491472" y="5669280"/>
            <a:ext cx="1874520" cy="384048"/>
          </a:xfrm>
          <a:prstGeom prst="roundRect">
            <a:avLst>
              <a:gd name="adj" fmla="val 47619"/>
            </a:avLst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5733288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Toplam: 12 puan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ÖLÇME •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Eşleştirme etkinliği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Soldaki teknolojiyi sağdaki açıklamayla eşleştir. Cevaplarını defterine “1-C, 2-A...” biçiminde yaz.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473659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8653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3DF5"/>
          </a:solidFill>
          <a:ln w="12700">
            <a:solidFill>
              <a:srgbClr val="5B3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4767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Yapay zekâ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560320"/>
            <a:ext cx="473659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26700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75234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724912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3364992"/>
            <a:ext cx="473659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" y="3474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55701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3B yazıcı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9808" y="4169664"/>
            <a:ext cx="473659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9536" y="42793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361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334256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9808" y="4974336"/>
            <a:ext cx="473659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9536" y="50840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51663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513892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Robotik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25312" y="1755648"/>
            <a:ext cx="546811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8653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94767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47104" y="192024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Gerçek görüntünün üzerine dijital bilgi ekler.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25312" y="2560320"/>
            <a:ext cx="546811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6700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75234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47104" y="2724912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Programlanan fiziksel görevleri yerine getirir.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925312" y="3364992"/>
            <a:ext cx="546811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3474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55701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47104" y="3529584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Veriden örüntü öğrenip tahmin / öneri üretir.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925312" y="4169664"/>
            <a:ext cx="546811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42793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361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47104" y="4334256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Dijital modeli katman katman nesneye dönüştürür.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925312" y="4974336"/>
            <a:ext cx="546811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50840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51663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47104" y="5138928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Cihazların sensör ve internetle veri paylaşmasını sağlar.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49808" y="5943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İpucu: Önce anahtar kelimeyi bul → sonra teknolojiyle eşleştir.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ÖLÇME •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Boşluk doldurma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Kelime havuzundaki kavramları uygun boşluklara yerleştir. Her kelime bir kez kullanılır.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1618488"/>
            <a:ext cx="1490472" cy="384048"/>
          </a:xfrm>
          <a:prstGeom prst="roundRect">
            <a:avLst>
              <a:gd name="adj" fmla="val 47619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82496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04872" y="1618488"/>
            <a:ext cx="932688" cy="384048"/>
          </a:xfrm>
          <a:prstGeom prst="roundRect">
            <a:avLst>
              <a:gd name="adj" fmla="val 47619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8024" y="168249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65576" y="161848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6824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1618488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682496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sanal gerçeklik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0528" y="1618488"/>
            <a:ext cx="1170432" cy="384048"/>
          </a:xfrm>
          <a:prstGeom prst="roundRect">
            <a:avLst>
              <a:gd name="adj" fmla="val 47619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682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yazıcı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08976" y="1618488"/>
            <a:ext cx="1353312" cy="384048"/>
          </a:xfrm>
          <a:prstGeom prst="roundRect">
            <a:avLst>
              <a:gd name="adj" fmla="val 47619"/>
            </a:avLst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6824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giyilebilir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33172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Sensörlü cihazların internet üzerinden veri paylaşmasına __________ denir.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04672" y="292608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Fiziksel görevleri programla yerine getiren sistemler __________ alanına örnektir.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04672" y="352044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Bir modeli katman katman fiziksel nesneye dönüştüren cihaz __________dır.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804672" y="411480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Kullanıcıyı tamamen dijital bir ortamın içine alan teknoloji __________ olarak adlandırılır.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804672" y="470916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Verilerden örüntü öğrenerek tahmin / öneri üretebilen sistemlere __________ denir.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04672" y="530352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Akıllı saat, __________ teknoloji örneğidir.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86384" y="5916168"/>
            <a:ext cx="10588752" cy="384048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601675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Kontrol: Bir kelimeyi iki kez kullandıysan yeniden düşün.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ÖLÇME •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senaryolar: Teknolojiyi bul ve alanını yaz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senaryo için iki cevap ver: “Hangi teknoloji?” + “Hangi kullanım alanı?”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755648"/>
            <a:ext cx="109728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38528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299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1920240"/>
            <a:ext cx="10012680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çiftçi, telefonundan tarlanın nemini görüyor ve sulamayı uzaktan başlatıyor.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4944" y="2761488"/>
            <a:ext cx="109728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94436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358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44752" y="2926080"/>
            <a:ext cx="10012680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öğrenci, VR gözlükle insan vücudunun içinde sanal bir gezi yapıyor.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94944" y="3767328"/>
            <a:ext cx="109728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95020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041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4752" y="3931920"/>
            <a:ext cx="10012680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atölye, bilgisayarda çizilen parçanın ilk örneğini katman katman üretiyor.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94944" y="4773168"/>
            <a:ext cx="109728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956048"/>
            <a:ext cx="438912" cy="43891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047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44752" y="4937760"/>
            <a:ext cx="10012680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saat, kullanıcının günlük adım sayısını kaydedip telefona gönderiyor.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31520" y="59253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Çıkış bileti: Bugün öğrendiğin bir teknolojiyi ve günlük hayatı nasıl kolaylaştırdığını tek cümleyle yaz.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SÜRECI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Ölçme – değerlendirme araçlarımız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Farklı araçlar, öğrencinin yalnızca “doğru cevap” vermesini değil; düşünmesini, üretmesini ve gelişimini görmeyi sağlar.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456432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984248"/>
            <a:ext cx="530352" cy="530352"/>
          </a:xfrm>
          <a:prstGeom prst="ellipse">
            <a:avLst/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21122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19476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9536" y="2642616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adımlarının tamamlanmasını izler.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4480560" y="1783080"/>
            <a:ext cx="3456432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984248"/>
            <a:ext cx="530352" cy="53035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9744" y="21122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9476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Dereceli puanlama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81728" y="2642616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Performans görevini açık ölçütlerle puanlar.</a:t>
            </a:r>
            <a:endParaRPr lang="en-US" sz="1220" dirty="0"/>
          </a:p>
        </p:txBody>
      </p:sp>
      <p:sp>
        <p:nvSpPr>
          <p:cNvPr id="15" name="Shape 11"/>
          <p:cNvSpPr/>
          <p:nvPr/>
        </p:nvSpPr>
        <p:spPr>
          <a:xfrm>
            <a:off x="8302752" y="1783080"/>
            <a:ext cx="3456432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1984248"/>
            <a:ext cx="530352" cy="530352"/>
          </a:xfrm>
          <a:prstGeom prst="ellipse">
            <a:avLst/>
          </a:prstGeom>
          <a:solidFill>
            <a:srgbClr val="E8FAFD"/>
          </a:solidFill>
          <a:ln w="12700">
            <a:solidFill>
              <a:srgbClr val="E8FAF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1936" y="211226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71432" y="19476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Dijital e-içerik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503920" y="2642616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Eşleştirme, mini quiz ve tekrar etkinlikleri.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658368" y="3730752"/>
            <a:ext cx="3456432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59536" y="3931920"/>
            <a:ext cx="530352" cy="530352"/>
          </a:xfrm>
          <a:prstGeom prst="ellipse">
            <a:avLst/>
          </a:prstGeom>
          <a:solidFill>
            <a:srgbClr val="EBFAF0"/>
          </a:solidFill>
          <a:ln w="12700">
            <a:solidFill>
              <a:srgbClr val="EBFA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" y="405993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7048" y="389534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Dijital portfolyo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59536" y="4590288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Ürünlerin zaman içindeki gelişimini gösterir.</a:t>
            </a:r>
            <a:endParaRPr lang="en-US" sz="1220" dirty="0"/>
          </a:p>
        </p:txBody>
      </p:sp>
      <p:sp>
        <p:nvSpPr>
          <p:cNvPr id="25" name="Shape 19"/>
          <p:cNvSpPr/>
          <p:nvPr/>
        </p:nvSpPr>
        <p:spPr>
          <a:xfrm>
            <a:off x="4480560" y="3730752"/>
            <a:ext cx="3456432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81728" y="3931920"/>
            <a:ext cx="530352" cy="530352"/>
          </a:xfrm>
          <a:prstGeom prst="ellipse">
            <a:avLst/>
          </a:prstGeom>
          <a:solidFill>
            <a:srgbClr val="FFF5E4"/>
          </a:solidFill>
          <a:ln w="12700">
            <a:solidFill>
              <a:srgbClr val="FFF5E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9744" y="405993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389534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 değerlendirme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81728" y="4590288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“Neyi öğrendim, nerede zorlandım?”</a:t>
            </a:r>
            <a:endParaRPr lang="en-US" sz="1220" dirty="0"/>
          </a:p>
        </p:txBody>
      </p:sp>
      <p:sp>
        <p:nvSpPr>
          <p:cNvPr id="30" name="Shape 23"/>
          <p:cNvSpPr/>
          <p:nvPr/>
        </p:nvSpPr>
        <p:spPr>
          <a:xfrm>
            <a:off x="8302752" y="3730752"/>
            <a:ext cx="3456432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03920" y="3931920"/>
            <a:ext cx="530352" cy="530352"/>
          </a:xfrm>
          <a:prstGeom prst="ellipse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1936" y="405993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71432" y="389534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Akran değerlendirme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503920" y="4590288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Arkadaşının çalışmasına yapıcı geri bildirim verir.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ÖĞRETMEN IÇIN • DERSTEN SONRA GÖSTER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 anahtarı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257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7556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3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Eşleştirme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35915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1–C   •   2–E   •   3–D   •   4–A   •   5–B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48" y="1481328"/>
            <a:ext cx="5449824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2512" y="17556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Boşluk doldurma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434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robotik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3B yazıcı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sanal gerçeklik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yapay zekâ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giyilebilir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3977640"/>
            <a:ext cx="10890504" cy="1600200"/>
          </a:xfrm>
          <a:prstGeom prst="roundRect">
            <a:avLst>
              <a:gd name="adj" fmla="val 8571"/>
            </a:avLst>
          </a:prstGeom>
          <a:solidFill>
            <a:srgbClr val="102447"/>
          </a:solidFill>
          <a:ln w="12700">
            <a:solidFill>
              <a:srgbClr val="102447"/>
            </a:solidFill>
            <a:prstDash val="solid"/>
          </a:ln>
          <a:effectLst>
            <a:outerShdw sx="100000" sy="100000" kx="0" ky="0" algn="bl" rotWithShape="0" blurRad="12700" dist="50800" dir="2700000">
              <a:srgbClr val="B7C2D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270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senaryolar – örnek cevaplar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E3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IoT — Tarım   •   2) VR — Eğitim   •   3) 3B yazıcı — Üretim   •   4) Giyilebilir teknoloji / IoT — Sağlık veya spor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76656" y="59253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 Bazı senaryolarda birden fazla sınıflandırma gerekçeli olarak kabul edilebilir.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6. Sınıf Ders Slaytları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Yenilikçi Bilişim Teknolojileri</dc:title>
  <dc:subject>6. Sınıf Bilişim Teknolojileri - Yenilikçi Bilişim Teknolojileri</dc:subject>
  <dc:creator>OpenAI</dc:creator>
  <cp:lastModifiedBy>OpenAI</cp:lastModifiedBy>
  <cp:revision>1</cp:revision>
  <dcterms:created xsi:type="dcterms:W3CDTF">2026-09-21T06:29:16Z</dcterms:created>
  <dcterms:modified xsi:type="dcterms:W3CDTF">2026-09-21T06:29:16Z</dcterms:modified>
</cp:coreProperties>
</file>